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Comparison scope: local original /home/changsik/projects/inhand_manipulation/isaacgym_repo/allegro_inhand_rotation (HEAD 52d076c plus local edits to train_s1.sh and vis_s1.sh) versus /home/changsik/projects/inhand_manipulation/allegro_inhand_rotation (HEAD 79656ee plus all working-tree changes, including untracked export code), inspected 2026-09-21. This is an implementation comparison, not an experimental benchmark.</a:t>
            </a:r>
          </a:p>
          <a:p>
            <a:r>
              <a:t>Source [1]: hora/tasks/isaaclab/allegro_hand_hora_env.py:284,703,726,761; hora/tasks/isaaclab/wrapper.py; configs/task/AllegroHandHora.yaml:9,20,39,98. Original: hora/tasks/base/vec_task.py and hora/tasks/allegro_hand_hora.py.</a:t>
            </a:r>
          </a:p>
          <a:p>
            <a:r>
              <a:t>Byte comparison found hora/algo/ppo/*.py, hora/algo/padapt/*.py and hora/algo/models/*.py unchanged relative to the supplied original. Same source does not establish numerical or checkpoint equivalence across simulators.</a:t>
            </a:r>
          </a:p>
          <a:p>
            <a:r>
              <a:t>The wrapper preserves time_outs separately from combined done flags. Observations contain normalized joint positions and joint targets, not measured joint velocities. The 30-step history is 30 x 32.</a:t>
            </a:r>
          </a:p>
          <a:p>
            <a:r>
              <a:t>Control equation describes inherited incremental target / torque semantics ported to Isaac Lab; it is not proposed as a new controller. The new _apply_action stores previous joint positions to avoid a zero finite difference from lazy state reads.</a:t>
            </a:r>
          </a:p>
          <a:p>
            <a:r>
              <a:t>Source [2]: hora/algo/deploy/deploy_ros2.py:63 and deploy_ros2_two_hands.py. The explicit self-inverse permutation is [0,4,8,12,1,5,9,13,2,6,10,14,3,7,11,15]. This aligns new simulation order with existing HORA/ROS mappings. No hardware validation was performed for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[3]: configs/task/LeftAllegroHandDigitHora.yaml and LeftAllegroHandDigitGrasp.yaml; assets/allegro/allegro_digit_left_elastomer.urdf. The original already supports standard left/right hands and ROS deployment; these are inherited features, not new contributions.</a:t>
            </a:r>
          </a:p>
          <a:p>
            <a:r>
              <a:t>hora/tasks/isaaclab/allegro_hand_grasp_env.py:90-141 replaces the original CPU contact query with one object-filtered ContactSensor per fingertip. The code comments explain that combining multiple fingertip bodies into one filtered sensor produced zero forces in vectorized environments. After a 10-step warm-up, grasp validity requires all tips within 0.1 m of the object, at least two force magnitudes &gt;0.1 N, and object height above threshold. Successful full episodes populate the grasp cache. GPU-compatible detection is a code capability; no throughput benchmark is claimed.</a:t>
            </a:r>
          </a:p>
          <a:p>
            <a:r>
              <a:t>Source [4]: hora/tasks/isaaclab/allegro_hand_hora_env.py:102-184,314-323,563-685 for compliant materials and mesh spawning; scripts/dataset_collection/sensors.py:70-124,309-432 for calibrated DIGIT cameras and baseline capture. Primitive shapes use native Isaac Lab spawn configurations. Meshes use MeshConverter and cached USD with per-environment object/scale selection.</a:t>
            </a:r>
          </a:p>
          <a:p>
            <a:r>
              <a:t>The elastomer is a rigid link with a compliant contact material, not a finite-element gel simulation. VisuoTactileSensor enables camera tactile output and disables force-field output. Calibration assets are required for Taxim rendering.</a:t>
            </a:r>
          </a:p>
          <a:p>
            <a:r>
              <a:t>scripts/dataset_collection/neuralfeels_export.py:64 implements contact = finite(depth) AND depth&gt;0 AND nominal-depth&gt;mask_eps. Collector default mask_eps is 3e-4 m. No contact pixels are fabricated. Tactile sensing is added to dataset collection; the unchanged HORA policy remains proprioceptive rather than tactile-conditioned.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[5]: scripts/collect_stage1_feelsight_dataset.py:199,251,299-315 and scripts/collect_stage2_feelsight_dataset.py. Both collectors are new relative to the original repository. Rendering interval is set to 1. DirectRLEnv resets before returning done, so the terminal step is excluded to avoid mixing reset-state imagery into the prior episode. Nonempty short episodes are saved.</a:t>
            </a:r>
          </a:p>
          <a:p>
            <a:r>
              <a:t>Source [6]: scripts/dataset_collection/neuralfeels_export.py, conventions.py, legacy_tactile.py, feelsight_writer.py, gt_sdf.py and README.md. The export targets existing NeuralFeels loaders in GT tactile-depth mode. Full end-to-end simulator/NeuralFeels execution was not performed for this presentation.</a:t>
            </a:r>
          </a:p>
          <a:p>
            <a:r>
              <a:t>Export joint numbers: [8,9,10,11,4,5,6,7,0,1,2,3,12,13,14,15]. Index and ring sensor names are swapped. Actual sensor world camera matrices are compared with FK using np.allclose(atol=2e-5, rtol=0); this is a matrix-element tolerance, not an angular error bound. Camera offset relative to housing tip is (-0.002132,0.000021,0.017545) m with quaternion wxyz=(0.5,0.5,-0.5,-0.5).</a:t>
            </a:r>
          </a:p>
          <a:p>
            <a:r>
              <a:t>Intrinsics come from actual sensors. Resizing uses fx'=sx*fx, fy'=sy*fy, cx'=(cx+0.5)*sx-0.5, cy'=(cy+0.5)*sy-0.5. Native tactile render is 640x480; default exported tactile image is 240x320 (W x H). Scene default is 640x480.</a:t>
            </a:r>
          </a:p>
          <a:p>
            <a:r>
              <a:t>Tactile depth uses z=depth_uint8/digit_info.depth_scale + digit_info.cam_dist with zero reserved for no contact. The scale and offset are fitted to an episode to avoid saturation. Depth/mask names retain .jpg for existing loaders but payloads are lossless PNG; RGB uses JPEG. Scene metric depth is stored in depth.npz with scale 1. Object ground truth SDF default voxel pitch is 5e-4 m.</a:t>
            </a:r>
          </a:p>
          <a:p>
            <a:r>
              <a:t>The new CPU regression suite tests compatibility against extracted original consumer source without optional SLAM imports; no test result is asserted in this deck. The scope includes current uncommitted/untracked edits as of 2026-09-21. There are no measured performance comparisons in this source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7F82"/>
                </a:solidFill>
                <a:latin typeface="Liberation Sans"/>
              </a:defRPr>
            </a:pPr>
            <a:r>
              <a:t>ALLEGRO IN-HAND ROTATION   /   TECHNICAL REPOSITORY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94944"/>
            <a:ext cx="11247120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32B43"/>
                </a:solidFill>
                <a:latin typeface="Liberation Sans"/>
              </a:defRPr>
            </a:pPr>
            <a:r>
              <a:t>Isaac Lab migration with the HORA learning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155680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36578"/>
                </a:solidFill>
                <a:latin typeface="Liberation Sans"/>
              </a:defRPr>
            </a:pPr>
            <a:r>
              <a:t>The simulator, control plumbing and deployment ordering change; PPO and adaptation source files remain identical.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47120" cy="13716"/>
          </a:xfrm>
          <a:prstGeom prst="rect">
            <a:avLst/>
          </a:prstGeom>
          <a:solidFill>
            <a:srgbClr val="D9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01384"/>
            <a:ext cx="10881360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36578"/>
                </a:solidFill>
                <a:latin typeface="Liberation Sans"/>
              </a:defRPr>
            </a:pPr>
            <a:r>
              <a:t>[1] isaaclab/allegro_hand_hora_env.py + wrapper.py   [2] deploy_ros2*.py   •   Full paths and scope in speaker 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64808"/>
            <a:ext cx="54864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7F82"/>
                </a:solidFill>
                <a:latin typeface="Liberation Sans"/>
              </a:defRPr>
            </a:pPr>
            <a: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2834640" cy="1170432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2048256"/>
            <a:ext cx="2542032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7F82"/>
                </a:solidFill>
                <a:latin typeface="Liberation Sans"/>
              </a:defRPr>
            </a:pPr>
            <a:r>
              <a:t>ORIGINAL  /  ISAAC GYM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2441448"/>
            <a:ext cx="254203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32B43"/>
                </a:solidFill>
                <a:latin typeface="Liberation Sans"/>
              </a:defRPr>
            </a:pPr>
            <a:r>
              <a:t>VecTask + gymtorch</a:t>
            </a:r>
          </a:p>
          <a:p>
            <a:pPr>
              <a:spcAft>
                <a:spcPts val="800"/>
              </a:spcAft>
              <a:defRPr sz="1500" b="0">
                <a:solidFill>
                  <a:srgbClr val="132B43"/>
                </a:solidFill>
                <a:latin typeface="Liberation Sans"/>
              </a:defRPr>
            </a:pPr>
            <a:r>
              <a:t>Task + simulation loop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1920240"/>
            <a:ext cx="3794760" cy="1170432"/>
          </a:xfrm>
          <a:prstGeom prst="rect">
            <a:avLst/>
          </a:prstGeom>
          <a:solidFill>
            <a:srgbClr val="13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9624" y="2048256"/>
            <a:ext cx="3502152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66DDD5"/>
                </a:solidFill>
                <a:latin typeface="Liberation Sans"/>
              </a:defRPr>
            </a:pPr>
            <a:r>
              <a:t>CURRENT  /  ISAAC 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9624" y="2441448"/>
            <a:ext cx="350215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  <a:latin typeface="Liberation Sans"/>
              </a:defRPr>
            </a:pPr>
            <a:r>
              <a:t>DirectRLEnv + Articulation / RigidObject</a:t>
            </a:r>
          </a:p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  <a:latin typeface="Liberation Sans"/>
              </a:defRPr>
            </a:pPr>
            <a:r>
              <a:t>Action / observation / reset hooks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09560" y="1920240"/>
            <a:ext cx="3794760" cy="1170432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55864" y="2048256"/>
            <a:ext cx="3502152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7F82"/>
                </a:solidFill>
                <a:latin typeface="Liberation Sans"/>
              </a:defRPr>
            </a:pPr>
            <a:r>
              <a:t>HORA COMPATIBILITY WRAPPER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55864" y="2441448"/>
            <a:ext cx="350215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32B43"/>
                </a:solidFill>
                <a:latin typeface="Liberation Sans"/>
              </a:defRPr>
            </a:pPr>
            <a:r>
              <a:t>obs · priv_info · proprio_hist</a:t>
            </a:r>
          </a:p>
          <a:p>
            <a:pPr>
              <a:spcAft>
                <a:spcPts val="800"/>
              </a:spcAft>
              <a:defRPr sz="1500" b="0">
                <a:solidFill>
                  <a:srgbClr val="132B43"/>
                </a:solidFill>
                <a:latin typeface="Liberation Sans"/>
              </a:defRPr>
            </a:pPr>
            <a:r>
              <a:t>terminated ∨ truncated → done</a:t>
            </a:r>
          </a:p>
        </p:txBody>
      </p:sp>
      <p:sp>
        <p:nvSpPr>
          <p:cNvPr id="18" name="Chevron 17"/>
          <p:cNvSpPr/>
          <p:nvPr/>
        </p:nvSpPr>
        <p:spPr>
          <a:xfrm>
            <a:off x="3346704" y="2395728"/>
            <a:ext cx="347472" cy="201168"/>
          </a:xfrm>
          <a:prstGeom prst="chevron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evron 18"/>
          <p:cNvSpPr/>
          <p:nvPr/>
        </p:nvSpPr>
        <p:spPr>
          <a:xfrm>
            <a:off x="7534656" y="2395728"/>
            <a:ext cx="347472" cy="201168"/>
          </a:xfrm>
          <a:prstGeom prst="chevron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355848"/>
            <a:ext cx="3611880" cy="2267712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355848"/>
            <a:ext cx="41148" cy="2267712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3502152"/>
            <a:ext cx="3282696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7F82"/>
                </a:solidFill>
                <a:latin typeface="Liberation Sans"/>
              </a:defRPr>
            </a:pPr>
            <a:r>
              <a:t>01  Policy 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4014215"/>
            <a:ext cx="3282696" cy="1527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1450" b="0">
                <a:solidFill>
                  <a:srgbClr val="132B43"/>
                </a:solidFill>
                <a:latin typeface="Liberation Sans"/>
              </a:defRPr>
            </a:pPr>
            <a:r>
              <a:t>16 actions; 96-D observation</a:t>
            </a:r>
          </a:p>
          <a:p>
            <a:pPr>
              <a:spcAft>
                <a:spcPts val="800"/>
              </a:spcAft>
              <a:defRPr sz="1450" b="0">
                <a:solidFill>
                  <a:srgbClr val="132B43"/>
                </a:solidFill>
                <a:latin typeface="Liberation Sans"/>
              </a:defRPr>
            </a:pPr>
            <a:r>
              <a:t>3 × [16 joint positions + 16 targets]</a:t>
            </a:r>
          </a:p>
          <a:p>
            <a:pPr>
              <a:spcAft>
                <a:spcPts val="800"/>
              </a:spcAft>
              <a:defRPr sz="1450" b="0">
                <a:solidFill>
                  <a:srgbClr val="132B43"/>
                </a:solidFill>
                <a:latin typeface="Liberation Sans"/>
              </a:defRPr>
            </a:pPr>
            <a:r>
              <a:t>30 × 32 proprioceptive history</a:t>
            </a:r>
          </a:p>
          <a:p>
            <a:pPr>
              <a:spcAft>
                <a:spcPts val="800"/>
              </a:spcAft>
              <a:defRPr sz="1450" b="0">
                <a:solidFill>
                  <a:srgbClr val="132B43"/>
                </a:solidFill>
                <a:latin typeface="Liberation Sans"/>
              </a:defRPr>
            </a:pPr>
            <a:r>
              <a:t>Stage 1 teacher → Stage 2 adaptation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70248" y="3355848"/>
            <a:ext cx="3611880" cy="2267712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70248" y="3355848"/>
            <a:ext cx="41148" cy="2267712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3502152"/>
            <a:ext cx="3282696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7F82"/>
                </a:solidFill>
                <a:latin typeface="Liberation Sans"/>
              </a:defRPr>
            </a:pPr>
            <a:r>
              <a:t>02  Control semantics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014215"/>
            <a:ext cx="3282696" cy="1527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1450" b="0">
                <a:solidFill>
                  <a:srgbClr val="132B43"/>
                </a:solidFill>
                <a:latin typeface="Liberation Sans"/>
              </a:defRPr>
            </a:pPr>
            <a:r>
              <a:t>120 Hz physics / 20 Hz policy</a:t>
            </a:r>
          </a:p>
          <a:p>
            <a:pPr>
              <a:spcAft>
                <a:spcPts val="800"/>
              </a:spcAft>
              <a:defRPr sz="1450" b="0">
                <a:solidFill>
                  <a:srgbClr val="132B43"/>
                </a:solidFill>
                <a:latin typeface="Liberation Sans"/>
              </a:defRPr>
            </a:pPr>
            <a:r>
              <a:t>q* ← clip(q* + a / 24)</a:t>
            </a:r>
          </a:p>
          <a:p>
            <a:pPr>
              <a:spcAft>
                <a:spcPts val="800"/>
              </a:spcAft>
              <a:defRPr sz="1450" b="0">
                <a:solidFill>
                  <a:srgbClr val="132B43"/>
                </a:solidFill>
                <a:latin typeface="Liberation Sans"/>
              </a:defRPr>
            </a:pPr>
            <a:r>
              <a:t>τ = clip(Kp(q* − q) − Kd q̇, ±0.5)</a:t>
            </a:r>
          </a:p>
          <a:p>
            <a:pPr>
              <a:spcAft>
                <a:spcPts val="800"/>
              </a:spcAft>
              <a:defRPr sz="1450" b="0">
                <a:solidFill>
                  <a:srgbClr val="132B43"/>
                </a:solidFill>
                <a:latin typeface="Liberation Sans"/>
              </a:defRPr>
            </a:pPr>
            <a:r>
              <a:t>q̇ uses the previous physics state.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83296" y="3355848"/>
            <a:ext cx="3621024" cy="2267712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83296" y="3355848"/>
            <a:ext cx="41148" cy="2267712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7888" y="3502152"/>
            <a:ext cx="329184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7F82"/>
                </a:solidFill>
                <a:latin typeface="Liberation Sans"/>
              </a:defRPr>
            </a:pPr>
            <a:r>
              <a:t>03  Deployment alignment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7888" y="4014215"/>
            <a:ext cx="3291840" cy="1527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1450" b="0">
                <a:solidFill>
                  <a:srgbClr val="132B43"/>
                </a:solidFill>
                <a:latin typeface="Liberation Sans"/>
              </a:defRPr>
            </a:pPr>
            <a:r>
              <a:t>Finger-major ↔ joint-rank-major</a:t>
            </a:r>
          </a:p>
          <a:p>
            <a:pPr>
              <a:spcAft>
                <a:spcPts val="800"/>
              </a:spcAft>
              <a:defRPr sz="1450" b="0">
                <a:solidFill>
                  <a:srgbClr val="132B43"/>
                </a:solidFill>
                <a:latin typeface="Liberation Sans"/>
              </a:defRPr>
            </a:pPr>
            <a:r>
              <a:t>4 × 4 transpose permutation aligns observations, history and actions.</a:t>
            </a:r>
          </a:p>
          <a:p>
            <a:pPr>
              <a:spcAft>
                <a:spcPts val="800"/>
              </a:spcAft>
              <a:defRPr sz="1450" b="0">
                <a:solidFill>
                  <a:srgbClr val="132B43"/>
                </a:solidFill>
                <a:latin typeface="Liberation Sans"/>
              </a:defRPr>
            </a:pPr>
            <a:r>
              <a:t>Timeout flags retained for PPO.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5870448"/>
            <a:ext cx="1097280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7F82"/>
                </a:solidFill>
                <a:latin typeface="Liberation Sans"/>
              </a:defRPr>
            </a:pPr>
            <a:r>
              <a:t>Research implication: preserve the learning design while rebuilding simulation and hardware interfaces.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7F82"/>
                </a:solidFill>
                <a:latin typeface="Liberation Sans"/>
              </a:defRPr>
            </a:pPr>
            <a:r>
              <a:t>ALLEGRO IN-HAND ROTATION   /   TECHNICAL REPOSITORY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94944"/>
            <a:ext cx="11247120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32B43"/>
                </a:solidFill>
                <a:latin typeface="Liberation Sans"/>
              </a:defRPr>
            </a:pPr>
            <a:r>
              <a:t>DIGIT sensing and mesh-object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155680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36578"/>
                </a:solidFill>
                <a:latin typeface="Liberation Sans"/>
              </a:defRPr>
            </a:pPr>
            <a:r>
              <a:t>A left-hand DIGIT variant adds compliant contact surfaces, calibrated tactile rendering and mesh-object support.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47120" cy="13716"/>
          </a:xfrm>
          <a:prstGeom prst="rect">
            <a:avLst/>
          </a:prstGeom>
          <a:solidFill>
            <a:srgbClr val="D9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01384"/>
            <a:ext cx="10881360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36578"/>
                </a:solidFill>
                <a:latin typeface="Liberation Sans"/>
              </a:defRPr>
            </a:pPr>
            <a:r>
              <a:t>[3] LeftAllegroHandDigitHora.yaml + allegro_hand_grasp_env.py   [4] dataset_collection/sensors.py + object spawning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64808"/>
            <a:ext cx="54864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7F82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83664"/>
            <a:ext cx="54406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7F82"/>
                </a:solidFill>
                <a:latin typeface="Liberation Sans"/>
              </a:defRPr>
            </a:pPr>
            <a:r>
              <a:t>WHAT CHANGED RELATIVE TO THE ORIGINAL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68296"/>
            <a:ext cx="5440680" cy="859536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2450591"/>
            <a:ext cx="5120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7F82"/>
                </a:solidFill>
                <a:latin typeface="Liberation Sans"/>
              </a:defRPr>
            </a:pPr>
            <a:r>
              <a:t>HAND GEOMETRY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2697479"/>
            <a:ext cx="5138928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536578"/>
                </a:solidFill>
                <a:latin typeface="Liberation Sans"/>
              </a:defRPr>
            </a:pPr>
            <a:r>
              <a:t>Standard HORA / V4 assets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2953512"/>
            <a:ext cx="5138928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32B43"/>
                </a:solidFill>
                <a:latin typeface="Liberation Sans"/>
              </a:defRPr>
            </a:pPr>
            <a:r>
              <a:t>→ Left DIGIT housings + 4 elastomer pads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55848"/>
            <a:ext cx="5440680" cy="859536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" y="3438144"/>
            <a:ext cx="5120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7F82"/>
                </a:solidFill>
                <a:latin typeface="Liberation Sans"/>
              </a:defRPr>
            </a:pPr>
            <a:r>
              <a:t>GRASP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" y="3685032"/>
            <a:ext cx="5138928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536578"/>
                </a:solidFill>
                <a:latin typeface="Liberation Sans"/>
              </a:defRPr>
            </a:pPr>
            <a:r>
              <a:t>CPU get_env_rigid_contacts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" y="3941063"/>
            <a:ext cx="5138928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32B43"/>
                </a:solidFill>
                <a:latin typeface="Liberation Sans"/>
              </a:defRPr>
            </a:pPr>
            <a:r>
              <a:t>→ GPU ContactSensor per fingertip → object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343400"/>
            <a:ext cx="5440680" cy="859536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4425696"/>
            <a:ext cx="5120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7F82"/>
                </a:solidFill>
                <a:latin typeface="Liberation Sans"/>
              </a:defRPr>
            </a:pPr>
            <a:r>
              <a:t>OBJECT GEOMETRY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" y="4672584"/>
            <a:ext cx="5138928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536578"/>
                </a:solidFill>
                <a:latin typeface="Liberation Sans"/>
              </a:defRPr>
            </a:pPr>
            <a:r>
              <a:t>Primitive URDF objects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" y="4928616"/>
            <a:ext cx="5138928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32B43"/>
                </a:solidFill>
                <a:latin typeface="Liberation Sans"/>
              </a:defRPr>
            </a:pPr>
            <a:r>
              <a:t>→ Native primitives + YCB / DexTouch meshes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5495544"/>
            <a:ext cx="5303520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32B43"/>
                </a:solidFill>
                <a:latin typeface="Liberation Sans"/>
              </a:defRPr>
            </a:pPr>
            <a:r>
              <a:t>Stable grasps: ≥2 contacts above 0.1 N,</a:t>
            </a:r>
          </a:p>
          <a:p>
            <a:pPr>
              <a:spcAft>
                <a:spcPts val="800"/>
              </a:spcAft>
              <a:defRPr sz="1600" b="0">
                <a:solidFill>
                  <a:srgbClr val="132B43"/>
                </a:solidFill>
                <a:latin typeface="Liberation Sans"/>
              </a:defRPr>
            </a:pPr>
            <a:r>
              <a:t>plus proximity and height checks after warm-up.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9632" y="1901952"/>
            <a:ext cx="5504688" cy="4251960"/>
          </a:xfrm>
          <a:prstGeom prst="rect">
            <a:avLst/>
          </a:prstGeom>
          <a:solidFill>
            <a:srgbClr val="13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075688"/>
            <a:ext cx="502920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66DDD5"/>
                </a:solidFill>
                <a:latin typeface="Liberation Sans"/>
              </a:defRPr>
            </a:pPr>
            <a:r>
              <a:t>TACTILE IMAGE GENERATION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2606040"/>
            <a:ext cx="498348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01  Contact geometry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2" y="2962656"/>
            <a:ext cx="493776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D5E2EC"/>
                </a:solidFill>
                <a:latin typeface="Liberation Sans"/>
              </a:defRPr>
            </a:pPr>
            <a:r>
              <a:t>Rigid elastomer links use a compliant PhysX material.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2" y="3566160"/>
            <a:ext cx="498348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02  Optical measurement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2" y="3922776"/>
            <a:ext cx="493776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D5E2EC"/>
                </a:solidFill>
                <a:latin typeface="Liberation Sans"/>
              </a:defRPr>
            </a:pPr>
            <a:r>
              <a:t>4 fingertip cameras + a pre-reset, no-contact baseline.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4526280"/>
            <a:ext cx="498348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03  Tactile RGB + contact mask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8232" y="4882896"/>
            <a:ext cx="493776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D5E2EC"/>
                </a:solidFill>
                <a:latin typeface="Liberation Sans"/>
              </a:defRPr>
            </a:pPr>
            <a:r>
              <a:t>Calibrated Taxim rendering via VisuoTactileSensor.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8232" y="5532120"/>
            <a:ext cx="4983480" cy="3474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66DDD5"/>
                </a:solidFill>
                <a:latin typeface="Liberation Sans"/>
              </a:defRPr>
            </a:pPr>
            <a:r>
              <a:t>Contact pixel: d₀ − d &gt; ε    (default ε = 0.3 mm)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7F82"/>
                </a:solidFill>
                <a:latin typeface="Liberation Sans"/>
              </a:defRPr>
            </a:pPr>
            <a:r>
              <a:t>ALLEGRO IN-HAND ROTATION   /   TECHNICAL REPOSITORY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94944"/>
            <a:ext cx="11247120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32B43"/>
                </a:solidFill>
                <a:latin typeface="Liberation Sans"/>
              </a:defRPr>
            </a:pPr>
            <a:r>
              <a:t>From policy rollouts to NeuralFeels datasets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155680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36578"/>
                </a:solidFill>
                <a:latin typeface="Liberation Sans"/>
              </a:defRPr>
            </a:pPr>
            <a:r>
              <a:t>New Stage 1 and Stage 2 collectors export synchronized vision, touch, kinematics and object ground truth.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47120" cy="13716"/>
          </a:xfrm>
          <a:prstGeom prst="rect">
            <a:avLst/>
          </a:prstGeom>
          <a:solidFill>
            <a:srgbClr val="D9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01384"/>
            <a:ext cx="10881360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36578"/>
                </a:solidFill>
                <a:latin typeface="Liberation Sans"/>
              </a:defRPr>
            </a:pPr>
            <a:r>
              <a:t>[5] collect_stage{1,2}_feelsight_dataset.py   [6] dataset_collection/{neuralfeels_export,legacy_tactile,feelsight_writer,gt_sdf}.py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64808"/>
            <a:ext cx="54864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7F82"/>
                </a:solidFill>
                <a:latin typeface="Liberation Sans"/>
              </a:defRPr>
            </a:pPr>
            <a: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47672"/>
            <a:ext cx="2441448" cy="932688"/>
          </a:xfrm>
          <a:prstGeom prst="rect">
            <a:avLst/>
          </a:prstGeom>
          <a:solidFill>
            <a:srgbClr val="13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2103120"/>
            <a:ext cx="220370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66DDD5"/>
                </a:solidFill>
                <a:latin typeface="Liberation Sans"/>
              </a:defRPr>
            </a:pPr>
            <a:r>
              <a:t>POLICY ROLLOUT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478024"/>
            <a:ext cx="2203704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FFFFF"/>
                </a:solidFill>
                <a:latin typeface="Liberation Sans"/>
              </a:defRPr>
            </a:pPr>
            <a:r>
              <a:t>Teacher or adapted student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73552" y="1947672"/>
            <a:ext cx="2441448" cy="932688"/>
          </a:xfrm>
          <a:prstGeom prst="rect">
            <a:avLst/>
          </a:prstGeom>
          <a:solidFill>
            <a:srgbClr val="13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2424" y="2103120"/>
            <a:ext cx="220370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66DDD5"/>
                </a:solidFill>
                <a:latin typeface="Liberation Sans"/>
              </a:defRPr>
            </a:pPr>
            <a:r>
              <a:t>SYNCHRONIZED CAPTURE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4" y="2478024"/>
            <a:ext cx="2203704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FFFFF"/>
                </a:solidFill>
                <a:latin typeface="Liberation Sans"/>
              </a:defRPr>
            </a:pPr>
            <a:r>
              <a:t>4 DIGIT + scene RGB-D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9904" y="1947672"/>
            <a:ext cx="2441448" cy="932688"/>
          </a:xfrm>
          <a:prstGeom prst="rect">
            <a:avLst/>
          </a:prstGeom>
          <a:solidFill>
            <a:srgbClr val="13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8776" y="2103120"/>
            <a:ext cx="220370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66DDD5"/>
                </a:solidFill>
                <a:latin typeface="Liberation Sans"/>
              </a:defRPr>
            </a:pPr>
            <a:r>
              <a:t>FEELSIGHT EXPORT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8776" y="2478024"/>
            <a:ext cx="2203704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FFFFF"/>
                </a:solidFill>
                <a:latin typeface="Liberation Sans"/>
              </a:defRPr>
            </a:pPr>
            <a:r>
              <a:t>Images + state + SDF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06256" y="1947672"/>
            <a:ext cx="2798064" cy="932688"/>
          </a:xfrm>
          <a:prstGeom prst="rect">
            <a:avLst/>
          </a:prstGeom>
          <a:solidFill>
            <a:srgbClr val="13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25128" y="2103120"/>
            <a:ext cx="25603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66DDD5"/>
                </a:solidFill>
                <a:latin typeface="Liberation Sans"/>
              </a:defRPr>
            </a:pPr>
            <a:r>
              <a:t>NEURALFEELS 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25128" y="2478024"/>
            <a:ext cx="256032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FFFFF"/>
                </a:solidFill>
                <a:latin typeface="Liberation Sans"/>
              </a:defRPr>
            </a:pPr>
            <a:r>
              <a:t>Existing GT-depth loader</a:t>
            </a:r>
          </a:p>
        </p:txBody>
      </p:sp>
      <p:sp>
        <p:nvSpPr>
          <p:cNvPr id="21" name="Chevron 20"/>
          <p:cNvSpPr/>
          <p:nvPr/>
        </p:nvSpPr>
        <p:spPr>
          <a:xfrm>
            <a:off x="2962656" y="2313432"/>
            <a:ext cx="246888" cy="201168"/>
          </a:xfrm>
          <a:prstGeom prst="chevron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evron 21"/>
          <p:cNvSpPr/>
          <p:nvPr/>
        </p:nvSpPr>
        <p:spPr>
          <a:xfrm>
            <a:off x="5779008" y="2313432"/>
            <a:ext cx="246888" cy="201168"/>
          </a:xfrm>
          <a:prstGeom prst="chevron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hevron 22"/>
          <p:cNvSpPr/>
          <p:nvPr/>
        </p:nvSpPr>
        <p:spPr>
          <a:xfrm>
            <a:off x="8595360" y="2313432"/>
            <a:ext cx="246888" cy="201168"/>
          </a:xfrm>
          <a:prstGeom prst="chevron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172968"/>
            <a:ext cx="3611880" cy="2404872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172968"/>
            <a:ext cx="41148" cy="2404872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3319272"/>
            <a:ext cx="3282696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7F82"/>
                </a:solidFill>
                <a:latin typeface="Liberation Sans"/>
              </a:defRPr>
            </a:pPr>
            <a:r>
              <a:t>01  Frame consistency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3831336"/>
            <a:ext cx="3282696" cy="16642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1450" b="0">
                <a:solidFill>
                  <a:srgbClr val="132B43"/>
                </a:solidFill>
                <a:latin typeface="Liberation Sans"/>
              </a:defRPr>
            </a:pPr>
            <a:r>
              <a:t>Map joints by name; swap index / ring labels for NeuralFeels.</a:t>
            </a:r>
          </a:p>
          <a:p>
            <a:pPr>
              <a:spcAft>
                <a:spcPts val="800"/>
              </a:spcAft>
              <a:defRPr sz="1450" b="0">
                <a:solidFill>
                  <a:srgbClr val="132B43"/>
                </a:solidFill>
                <a:latin typeface="Liberation Sans"/>
              </a:defRPr>
            </a:pPr>
            <a:r>
              <a:t>Tworld,cam = Tworld,tip · Ttip,cam</a:t>
            </a:r>
          </a:p>
          <a:p>
            <a:pPr>
              <a:spcAft>
                <a:spcPts val="800"/>
              </a:spcAft>
              <a:defRPr sz="1450" b="0">
                <a:solidFill>
                  <a:srgbClr val="132B43"/>
                </a:solidFill>
                <a:latin typeface="Liberation Sans"/>
              </a:defRPr>
            </a:pPr>
            <a:r>
              <a:t>Every saved camera pose is checked against NeuralFeels FK.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70248" y="3172968"/>
            <a:ext cx="3611880" cy="2404872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70248" y="3172968"/>
            <a:ext cx="41148" cy="2404872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4840" y="3319272"/>
            <a:ext cx="3282696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7F82"/>
                </a:solidFill>
                <a:latin typeface="Liberation Sans"/>
              </a:defRPr>
            </a:pPr>
            <a:r>
              <a:t>02  Metric depth encoding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3831336"/>
            <a:ext cx="3282696" cy="16642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1450" b="0">
                <a:solidFill>
                  <a:srgbClr val="132B43"/>
                </a:solidFill>
                <a:latin typeface="Liberation Sans"/>
              </a:defRPr>
            </a:pPr>
            <a:r>
              <a:t>OpenGL camera axes; visible depth has negative camera-z.</a:t>
            </a:r>
          </a:p>
          <a:p>
            <a:pPr>
              <a:spcAft>
                <a:spcPts val="800"/>
              </a:spcAft>
              <a:defRPr sz="1450" b="0">
                <a:solidFill>
                  <a:srgbClr val="132B43"/>
                </a:solidFill>
                <a:latin typeface="Liberation Sans"/>
              </a:defRPr>
            </a:pPr>
            <a:r>
              <a:t>z = uint8 / scale + offset</a:t>
            </a:r>
          </a:p>
          <a:p>
            <a:pPr>
              <a:spcAft>
                <a:spcPts val="800"/>
              </a:spcAft>
              <a:defRPr sz="1450" b="0">
                <a:solidFill>
                  <a:srgbClr val="132B43"/>
                </a:solidFill>
                <a:latin typeface="Liberation Sans"/>
              </a:defRPr>
            </a:pPr>
            <a:r>
              <a:t>Fit scale / offset per episode; preserve masks with lossless storage.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83296" y="3172968"/>
            <a:ext cx="3621024" cy="2404872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83296" y="3172968"/>
            <a:ext cx="41148" cy="2404872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7888" y="3319272"/>
            <a:ext cx="329184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7F82"/>
                </a:solidFill>
                <a:latin typeface="Liberation Sans"/>
              </a:defRPr>
            </a:pPr>
            <a:r>
              <a:t>03  Timing + ground truth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47888" y="3831336"/>
            <a:ext cx="3291840" cy="16642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1450" b="0">
                <a:solidFill>
                  <a:srgbClr val="132B43"/>
                </a:solidFill>
                <a:latin typeface="Liberation Sans"/>
              </a:defRPr>
            </a:pPr>
            <a:r>
              <a:t>Render every physics step; exclude terminal auto-reset frames.</a:t>
            </a:r>
          </a:p>
          <a:p>
            <a:pPr>
              <a:spcAft>
                <a:spcPts val="800"/>
              </a:spcAft>
              <a:defRPr sz="1450" b="0">
                <a:solidFill>
                  <a:srgbClr val="132B43"/>
                </a:solidFill>
                <a:latin typeface="Liberation Sans"/>
              </a:defRPr>
            </a:pPr>
            <a:r>
              <a:t>Save calibrated K, RGB-D, masks, hand / object poses and joint states.</a:t>
            </a:r>
          </a:p>
          <a:p>
            <a:pPr>
              <a:spcAft>
                <a:spcPts val="800"/>
              </a:spcAft>
              <a:defRPr sz="1450" b="0">
                <a:solidFill>
                  <a:srgbClr val="132B43"/>
                </a:solidFill>
                <a:latin typeface="Liberation Sans"/>
              </a:defRPr>
            </a:pPr>
            <a:r>
              <a:t>Export object SDF at 0.5 mm pitch.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779008"/>
            <a:ext cx="11247120" cy="429768"/>
          </a:xfrm>
          <a:prstGeom prst="rect">
            <a:avLst/>
          </a:prstGeom>
          <a:solidFill>
            <a:srgbClr val="E3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5852160"/>
            <a:ext cx="109728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7F82"/>
                </a:solidFill>
                <a:latin typeface="Liberation Sans"/>
              </a:defRPr>
            </a:pPr>
            <a:r>
              <a:t>Research capability: calibrated tactile reconstruction datasets. Performance gains require experimental validation.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Allegro In-Hand Rotation: Technical Changes from the Original Repository</dc:title>
  <dc:subject>Isaac Lab migration, DIGIT sensing, and NeuralFeels dataset export</dc:subject>
  <dc:creator>Research Engineering</dc:creator>
  <cp:keywords>Allegro, Isaac Lab, HORA, DIGIT, NeuralFeels, repository comparison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