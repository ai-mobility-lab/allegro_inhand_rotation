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framing: A robot hand must coordinate its fingers to turn an object without dropping it. The original already learns this skill and supports standard left/right hands and ROS deployment. The extension broadens the experimental platform: a new simulator, touch-enabled fingertips, richer object shapes and a dataset pipeline. Do not present the inherited learning algorithm or ROS capability as new work.</a:t>
            </a:r>
          </a:p>
          <a:p>
            <a:r>
              <a:t>Policy means the learned rule that converts recent robot measurements into finger commands. DIGIT is an optical tactile sensor: a camera observes a soft contact surface. A mesh describes a 3D object surface with small polygons. YCB and DexTouch provide everyday-object models.</a:t>
            </a:r>
          </a:p>
          <a:p>
            <a:r>
              <a:t>The learning, adaptation and neural-network source files match the original, but identical source does not establish identical simulator behavior or direct checkpoint compatibility.</a:t>
            </a:r>
          </a:p>
          <a:p>
            <a:r>
              <a:t>Comparison scope: local original /home/changsik/projects/inhand_manipulation/isaacgym_repo/allegro_inhand_rotation (HEAD 52d076c plus local edits to train_s1.sh and vis_s1.sh) versus /home/changsik/projects/inhand_manipulation/allegro_inhand_rotation (HEAD 79656ee plus all working-tree changes, including untracked export code), inspected 2026-09-21. This is an implementation comparison, not an experimental benchmark.</a:t>
            </a:r>
          </a:p>
          <a:p>
            <a:r>
              <a:t>Source [1]: hora/tasks/isaaclab/allegro_hand_hora_env.py:284,703,726,761; hora/tasks/isaaclab/wrapper.py; configs/task/AllegroHandHora.yaml:9,20,39,98. Original: hora/tasks/base/vec_task.py and hora/tasks/allegro_hand_hora.py.</a:t>
            </a:r>
          </a:p>
          <a:p>
            <a:r>
              <a:t>Byte comparison found hora/algo/ppo/*.py, hora/algo/padapt/*.py and hora/algo/models/*.py unchanged relative to the supplied original. Same source does not establish numerical or checkpoint equivalence across simulators.</a:t>
            </a:r>
          </a:p>
          <a:p>
            <a:r>
              <a:t>The wrapper preserves time_outs separately from combined done flags. Observations contain normalized joint positions and joint targets, not measured joint velocities. The 30-step history is 30 x 32.</a:t>
            </a:r>
          </a:p>
          <a:p>
            <a:r>
              <a:t>Control equation describes inherited incremental target / torque semantics ported to Isaac Lab; it is not proposed as a new controller. The new _apply_action stores previous joint positions to avoid a zero finite difference from lazy state reads.</a:t>
            </a:r>
          </a:p>
          <a:p>
            <a:r>
              <a:t>Source [2]: hora/algo/deploy/deploy_ros2.py:63 and deploy_ros2_two_hands.py. The explicit self-inverse permutation is [0,4,8,12,1,5,9,13,2,6,10,14,3,7,11,15]. This aligns new simulation order with existing HORA/ROS mappings. No hardware validation was performed for this presentation.</a:t>
            </a:r>
          </a:p>
          <a:p>
            <a:r>
              <a:t>Source [3]: configs/task/LeftAllegroHandDigitHora.yaml and LeftAllegroHandDigitGrasp.yaml; assets/allegro/allegro_digit_left_elastomer.urdf. The original already supports standard left/right hands and ROS deployment; these are inherited features, not new contributions.</a:t>
            </a:r>
          </a:p>
          <a:p>
            <a:r>
              <a:t>hora/tasks/isaaclab/allegro_hand_grasp_env.py:90-141 replaces the original CPU contact query with one object-filtered ContactSensor per fingertip. The code comments explain that combining multiple fingertip bodies into one filtered sensor produced zero forces in vectorized environments. After a 10-step warm-up, grasp validity requires all tips within 0.1 m of the object, at least two force magnitudes &gt;0.1 N, and object height above threshold. Successful full episodes populate the grasp cache. GPU-compatible detection is a code capability; no throughput benchmark is claimed.</a:t>
            </a:r>
          </a:p>
          <a:p>
            <a:r>
              <a:t>Source [4]: hora/tasks/isaaclab/allegro_hand_hora_env.py:102-184,314-323,563-685 for compliant materials and mesh spawning; scripts/dataset_collection/sensors.py:70-124,309-432 for calibrated DIGIT cameras and baseline capture. Primitive shapes use native Isaac Lab spawn configurations. Meshes use MeshConverter and cached USD with per-environment object/scale selection.</a:t>
            </a:r>
          </a:p>
          <a:p>
            <a:r>
              <a:t>The elastomer is a rigid link with a compliant contact material, not a finite-element gel simulation. VisuoTactileSensor enables camera tactile output and disables force-field output. Calibration assets are required for Taxim rendering.</a:t>
            </a:r>
          </a:p>
          <a:p>
            <a:r>
              <a:t>scripts/dataset_collection/neuralfeels_export.py:64 implements contact = finite(depth) AND depth&gt;0 AND nominal-depth&gt;mask_eps. Collector default mask_eps is 3e-4 m. No contact pixels are fabricated. Tactile sensing is added to dataset collection; the unchanged HORA policy remains proprioceptive rather than tactile-conditioned.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explanation: Imagine recording a manipulation experiment with synchronized external cameras and four fingertip microscopes. In simulation, the object geometry and position are also available, providing a reference that is difficult to measure precisely in physical experiments.</a:t>
            </a:r>
          </a:p>
          <a:p>
            <a:r>
              <a:t>The original repository did not include these collectors or the NeuralFeels exporter. New collectors can use the first-stage teacher or second-stage adapted policy. The original two-stage learning design is retained.</a:t>
            </a:r>
          </a:p>
          <a:p>
            <a:r>
              <a:t>NeuralFeels is the downstream perception consumer. This work exports its expected inputs; it does not establish improved reconstruction accuracy. Touch is recorded for perception research, not fed into the inherited movement policy.</a:t>
            </a:r>
          </a:p>
          <a:p>
            <a:r>
              <a:t>Known object geometry is exported as a signed distance field (SDF): a 3D grid recording distance to the object surface, with a sign distinguishing inside from outside. Default grid pitch is 0.5 mm. That is a sampling resolution, not a claim of 0.5 mm reconstruction accuracy.</a:t>
            </a:r>
          </a:p>
          <a:p>
            <a:r>
              <a:t>The soft pad uses a compliant contact model on rigid geometry, not a full soft-body material simulation. Rendering and calibration are documented implementation choices, not proof of physical sensor fidelity.</a:t>
            </a:r>
          </a:p>
          <a:p>
            <a:r>
              <a:t>Source [3]: configs/task/LeftAllegroHandDigitHora.yaml and LeftAllegroHandDigitGrasp.yaml; assets/allegro/allegro_digit_left_elastomer.urdf. The original already supports standard left/right hands and ROS deployment; these are inherited features, not new contributions.</a:t>
            </a:r>
          </a:p>
          <a:p>
            <a:r>
              <a:t>hora/tasks/isaaclab/allegro_hand_grasp_env.py:90-141 replaces the original CPU contact query with one object-filtered ContactSensor per fingertip. The code comments explain that combining multiple fingertip bodies into one filtered sensor produced zero forces in vectorized environments. After a 10-step warm-up, grasp validity requires all tips within 0.1 m of the object, at least two force magnitudes &gt;0.1 N, and object height above threshold. Successful full episodes populate the grasp cache. GPU-compatible detection is a code capability; no throughput benchmark is claimed.</a:t>
            </a:r>
          </a:p>
          <a:p>
            <a:r>
              <a:t>Source [4]: hora/tasks/isaaclab/allegro_hand_hora_env.py:102-184,314-323,563-685 for compliant materials and mesh spawning; scripts/dataset_collection/sensors.py:70-124,309-432 for calibrated DIGIT cameras and baseline capture. Primitive shapes use native Isaac Lab spawn configurations. Meshes use MeshConverter and cached USD with per-environment object/scale selection.</a:t>
            </a:r>
          </a:p>
          <a:p>
            <a:r>
              <a:t>The elastomer is a rigid link with a compliant contact material, not a finite-element gel simulation. VisuoTactileSensor enables camera tactile output and disables force-field output. Calibration assets are required for Taxim rendering.</a:t>
            </a:r>
          </a:p>
          <a:p>
            <a:r>
              <a:t>scripts/dataset_collection/neuralfeels_export.py:64 implements contact = finite(depth) AND depth&gt;0 AND nominal-depth&gt;mask_eps. Collector default mask_eps is 3e-4 m. No contact pixels are fabricated. Tactile sensing is added to dataset collection; the unchanged HORA policy remains proprioceptive rather than tactile-conditioned.</a:t>
            </a:r>
          </a:p>
          <a:p>
            <a:r>
              <a:t>Source [5]: scripts/collect_stage1_feelsight_dataset.py:199,251,299-315 and scripts/collect_stage2_feelsight_dataset.py. Both collectors are new relative to the original repository. Rendering interval is set to 1. DirectRLEnv resets before returning done, so the terminal step is excluded to avoid mixing reset-state imagery into the prior episode. Nonempty short episodes are saved.</a:t>
            </a:r>
          </a:p>
          <a:p>
            <a:r>
              <a:t>Source [6]: scripts/dataset_collection/neuralfeels_export.py, conventions.py, legacy_tactile.py, feelsight_writer.py, gt_sdf.py and README.md. The export targets existing NeuralFeels loaders in GT tactile-depth mode. Full end-to-end simulator/NeuralFeels execution was not performed for this presentation.</a:t>
            </a:r>
          </a:p>
          <a:p>
            <a:r>
              <a:t>Export joint numbers: [8,9,10,11,4,5,6,7,0,1,2,3,12,13,14,15]. Index and ring sensor names are swapped. Actual sensor world camera matrices are compared with FK using np.allclose(atol=2e-5, rtol=0); this is a matrix-element tolerance, not an angular error bound. Camera offset relative to housing tip is (-0.002132,0.000021,0.017545) m with quaternion wxyz=(0.5,0.5,-0.5,-0.5).</a:t>
            </a:r>
          </a:p>
          <a:p>
            <a:r>
              <a:t>Intrinsics come from actual sensors. Resizing uses fx'=sx*fx, fy'=sy*fy, cx'=(cx+0.5)*sx-0.5, cy'=(cy+0.5)*sy-0.5. Native tactile render is 640x480; default exported tactile image is 240x320 (W x H). Scene default is 640x480.</a:t>
            </a:r>
          </a:p>
          <a:p>
            <a:r>
              <a:t>Tactile depth uses z=depth_uint8/digit_info.depth_scale + digit_info.cam_dist with zero reserved for no contact. The scale and offset are fitted to an episode to avoid saturation. Depth/mask names retain .jpg for existing loaders but payloads are lossless PNG; RGB uses JPEG. Scene metric depth is stored in depth.npz with scale 1. Object ground truth SDF default voxel pitch is 5e-4 m.</a:t>
            </a:r>
          </a:p>
          <a:p>
            <a:r>
              <a:t>The new CPU regression suite tests compatibility against extracted original consumer source without optional SLAM imports; no test result is asserted in this deck. The scope includes current uncommitted/untracked edits as of 2026-09-21. There are no measured performance comparisons in this source review.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and presentation scope: These are difficulties documented in the repository, not reconstructed development dates or estimates of time spent. No simulator run, hardware trial or end-to-end perception benchmark was performed while preparing these slides.</a:t>
            </a:r>
          </a:p>
          <a:p>
            <a:r>
              <a:t>1. Joint order: hora/algo/deploy/deploy_ros2.py and deploy_ros2_two_hands.py document the simulator import changing a finger-major ordering to a joint-rank-major ordering. An explicit self-inverse 4x4 transpose permutation aligns observations, histories and outgoing actions. Without consistent ordering, values can be assigned to the wrong joints. The slide describes the compatibility problem, not a claim that a specific hardware accident occurred.</a:t>
            </a:r>
          </a:p>
          <a:p>
            <a:r>
              <a:t>Additional control difficulty: hora/tasks/isaaclab/allegro_hand_hora_env.py:_apply_action documents that two lazy reads access the same current state. The code stores the previous physics-step joint position separately to estimate velocity for damping.</a:t>
            </a:r>
          </a:p>
          <a:p>
            <a:r>
              <a:t>2. Tactile signal: hora/tasks/isaaclab/allegro_hand_hora_env.py:UrdfFileWithCompliantContactCfg documents near-flat contact imagery with ordinary rigid contacts. It binds a compliant PhysX material to elastomer links. scripts/dataset_collection/sensors.py:capture_initial_tactile_render documents an already-contacting grasp contaminating the nominal baseline and a later attempted object-teleport approach causing unstable contact after restoration. The current code takes a naturally untouched baseline before reset and refreshes camera poses.</a:t>
            </a:r>
          </a:p>
          <a:p>
            <a:r>
              <a:t>Additional grasp difficulty: hora/tasks/isaaclab/allegro_hand_grasp_env.py:_setup_scene documents all-zero filtered contact forces with one sensor spanning multiple fingertip bodies in parallel environments. One object-filtered sensor per fingertip addresses this indexing limitation and replaces the original CPU-only query with GPU-compatible detection. No measured speedup is asserted.</a:t>
            </a:r>
          </a:p>
          <a:p>
            <a:r>
              <a:t>3. Asset visibility: hora/tasks/isaaclab/allegro_hand_hora_env.py:_build_object_cfg documents empty/invisible rigid-object geometry from a URDF-to-USD payload/reference composition path. Native primitive spawners bypass it for simple shapes; MeshConverter handles detailed surface geometry. _make_mesh_materials_opaque also addresses invisible imported materials. This is a documented importer issue in the development environment, not a universal claim about all simulator versions.</a:t>
            </a:r>
          </a:p>
          <a:p>
            <a:r>
              <a:t>4. Data consistency: scripts/dataset_collection/neuralfeels_export.py checks camera poses against NeuralFeels forward kinematics on every captured frame. legacy_tactile.py and conventions.py define finger/joint and camera conventions. feelsight_writer.py fits depth encoding to preserve measurements for the existing loader. Both collectors render each physics step and exclude done steps because the simulator has already reset. See detailed export notes below.</a:t>
            </a:r>
          </a:p>
          <a:p>
            <a:r>
              <a:t>Source [5]: scripts/collect_stage1_feelsight_dataset.py:199,251,299-315 and scripts/collect_stage2_feelsight_dataset.py. Both collectors are new relative to the original repository. Rendering interval is set to 1. DirectRLEnv resets before returning done, so the terminal step is excluded to avoid mixing reset-state imagery into the prior episode. Nonempty short episodes are saved.</a:t>
            </a:r>
          </a:p>
          <a:p>
            <a:r>
              <a:t>Source [6]: scripts/dataset_collection/neuralfeels_export.py, conventions.py, legacy_tactile.py, feelsight_writer.py, gt_sdf.py and README.md. The export targets existing NeuralFeels loaders in GT tactile-depth mode. Full end-to-end simulator/NeuralFeels execution was not performed for this presentation.</a:t>
            </a:r>
          </a:p>
          <a:p>
            <a:r>
              <a:t>Export joint numbers: [8,9,10,11,4,5,6,7,0,1,2,3,12,13,14,15]. Index and ring sensor names are swapped. Actual sensor world camera matrices are compared with FK using np.allclose(atol=2e-5, rtol=0); this is a matrix-element tolerance, not an angular error bound. Camera offset relative to housing tip is (-0.002132,0.000021,0.017545) m with quaternion wxyz=(0.5,0.5,-0.5,-0.5).</a:t>
            </a:r>
          </a:p>
          <a:p>
            <a:r>
              <a:t>Intrinsics come from actual sensors. Resizing uses fx'=sx*fx, fy'=sy*fy, cx'=(cx+0.5)*sx-0.5, cy'=(cy+0.5)*sy-0.5. Native tactile render is 640x480; default exported tactile image is 240x320 (W x H). Scene default is 640x480.</a:t>
            </a:r>
          </a:p>
          <a:p>
            <a:r>
              <a:t>Tactile depth uses z=depth_uint8/digit_info.depth_scale + digit_info.cam_dist with zero reserved for no contact. The scale and offset are fitted to an episode to avoid saturation. Depth/mask names retain .jpg for existing loaders but payloads are lossless PNG; RGB uses JPEG. Scene metric depth is stored in depth.npz with scale 1. Object ground truth SDF default voxel pitch is 5e-4 m.</a:t>
            </a:r>
          </a:p>
          <a:p>
            <a:r>
              <a:t>The new CPU regression suite tests compatibility against extracted original consumer source without optional SLAM imports; no test result is asserted in this deck. The scope includes current uncommitted/untracked edits as of 2026-09-21. There are no measured performance comparisons in this source review.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0972800" cy="228600"/>
          </a:xfrm>
          <a:prstGeom prst="rect">
            <a:avLst/>
          </a:prstGeom>
          <a:noFill/>
        </p:spPr>
        <p:txBody>
          <a:bodyPr wrap="square" lIns="13716" rIns="13716" tIns="0" bIns="0">
            <a:spAutoFit/>
          </a:bodyPr>
          <a:lstStyle/>
          <a:p>
            <a:pPr>
              <a:spcAft>
                <a:spcPts val="300"/>
              </a:spcAft>
              <a:defRPr sz="1000" b="1">
                <a:solidFill>
                  <a:srgbClr val="007F82"/>
                </a:solidFill>
                <a:latin typeface="Liberation Sans"/>
              </a:defRPr>
            </a:pPr>
            <a:r>
              <a:t>ALLEGRO IN-HAND ROTATION   /   WHAT CHANGED • WHY IT MATTERS • DEVELOPMENT CHALLENGES</a:t>
            </a:r>
          </a:p>
        </p:txBody>
      </p:sp>
      <p:sp>
        <p:nvSpPr>
          <p:cNvPr id="4" name="TextBox 3"/>
          <p:cNvSpPr txBox="1"/>
          <p:nvPr/>
        </p:nvSpPr>
        <p:spPr>
          <a:xfrm>
            <a:off x="457200" y="694944"/>
            <a:ext cx="11247120" cy="502920"/>
          </a:xfrm>
          <a:prstGeom prst="rect">
            <a:avLst/>
          </a:prstGeom>
          <a:noFill/>
        </p:spPr>
        <p:txBody>
          <a:bodyPr wrap="square" lIns="13716" rIns="13716" tIns="0" bIns="0">
            <a:spAutoFit/>
          </a:bodyPr>
          <a:lstStyle/>
          <a:p>
            <a:pPr>
              <a:spcAft>
                <a:spcPts val="300"/>
              </a:spcAft>
              <a:defRPr sz="2800" b="1">
                <a:solidFill>
                  <a:srgbClr val="132B43"/>
                </a:solidFill>
                <a:latin typeface="Liberation Sans"/>
              </a:defRPr>
            </a:pPr>
            <a:r>
              <a:t>From learning to rotate objects to studying touch</a:t>
            </a:r>
          </a:p>
        </p:txBody>
      </p:sp>
      <p:sp>
        <p:nvSpPr>
          <p:cNvPr id="5" name="TextBox 4"/>
          <p:cNvSpPr txBox="1"/>
          <p:nvPr/>
        </p:nvSpPr>
        <p:spPr>
          <a:xfrm>
            <a:off x="457200" y="1280160"/>
            <a:ext cx="11155680" cy="438912"/>
          </a:xfrm>
          <a:prstGeom prst="rect">
            <a:avLst/>
          </a:prstGeom>
          <a:noFill/>
        </p:spPr>
        <p:txBody>
          <a:bodyPr wrap="square" lIns="13716" rIns="13716" tIns="0" bIns="0">
            <a:spAutoFit/>
          </a:bodyPr>
          <a:lstStyle/>
          <a:p>
            <a:pPr>
              <a:spcAft>
                <a:spcPts val="300"/>
              </a:spcAft>
              <a:defRPr sz="1600" b="0">
                <a:solidFill>
                  <a:srgbClr val="536578"/>
                </a:solidFill>
                <a:latin typeface="Liberation Sans"/>
              </a:defRPr>
            </a:pPr>
            <a:r>
              <a:t>The original learns how a robot hand rotates an object. The extension also records what the hand sees and feels.</a:t>
            </a:r>
          </a:p>
        </p:txBody>
      </p:sp>
      <p:sp>
        <p:nvSpPr>
          <p:cNvPr id="6" name="Rectangle 5"/>
          <p:cNvSpPr/>
          <p:nvPr/>
        </p:nvSpPr>
        <p:spPr>
          <a:xfrm>
            <a:off x="457200" y="6400800"/>
            <a:ext cx="11247120" cy="13716"/>
          </a:xfrm>
          <a:prstGeom prst="rect">
            <a:avLst/>
          </a:prstGeom>
          <a:solidFill>
            <a:srgbClr val="D9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01384"/>
            <a:ext cx="10881360" cy="210312"/>
          </a:xfrm>
          <a:prstGeom prst="rect">
            <a:avLst/>
          </a:prstGeom>
          <a:noFill/>
        </p:spPr>
        <p:txBody>
          <a:bodyPr wrap="square" lIns="13716" rIns="13716" tIns="0" bIns="0">
            <a:spAutoFit/>
          </a:bodyPr>
          <a:lstStyle/>
          <a:p>
            <a:pPr>
              <a:spcAft>
                <a:spcPts val="300"/>
              </a:spcAft>
              <a:defRPr sz="900" b="0">
                <a:solidFill>
                  <a:srgbClr val="536578"/>
                </a:solidFill>
                <a:latin typeface="Liberation Sans"/>
              </a:defRPr>
            </a:pPr>
            <a:r>
              <a:t>Comparison of the supplied local repositories, including working-tree edits. Code references and technical details in speaker notes.</a:t>
            </a:r>
          </a:p>
        </p:txBody>
      </p:sp>
      <p:sp>
        <p:nvSpPr>
          <p:cNvPr id="8" name="TextBox 7"/>
          <p:cNvSpPr txBox="1"/>
          <p:nvPr/>
        </p:nvSpPr>
        <p:spPr>
          <a:xfrm>
            <a:off x="11201400" y="6464808"/>
            <a:ext cx="548640" cy="274320"/>
          </a:xfrm>
          <a:prstGeom prst="rect">
            <a:avLst/>
          </a:prstGeom>
          <a:noFill/>
        </p:spPr>
        <p:txBody>
          <a:bodyPr wrap="square" lIns="13716" rIns="13716" tIns="0" bIns="0">
            <a:spAutoFit/>
          </a:bodyPr>
          <a:lstStyle/>
          <a:p>
            <a:pPr>
              <a:spcAft>
                <a:spcPts val="300"/>
              </a:spcAft>
              <a:defRPr sz="1400" b="1">
                <a:solidFill>
                  <a:srgbClr val="007F82"/>
                </a:solidFill>
                <a:latin typeface="Liberation Sans"/>
              </a:defRPr>
            </a:pPr>
            <a:r>
              <a:t>01</a:t>
            </a:r>
          </a:p>
        </p:txBody>
      </p:sp>
      <p:sp>
        <p:nvSpPr>
          <p:cNvPr id="9" name="TextBox 8"/>
          <p:cNvSpPr txBox="1"/>
          <p:nvPr/>
        </p:nvSpPr>
        <p:spPr>
          <a:xfrm>
            <a:off x="594360" y="1892807"/>
            <a:ext cx="1828800" cy="274320"/>
          </a:xfrm>
          <a:prstGeom prst="rect">
            <a:avLst/>
          </a:prstGeom>
          <a:noFill/>
        </p:spPr>
        <p:txBody>
          <a:bodyPr wrap="square" lIns="13716" rIns="13716" tIns="0" bIns="0">
            <a:spAutoFit/>
          </a:bodyPr>
          <a:lstStyle/>
          <a:p>
            <a:pPr>
              <a:spcAft>
                <a:spcPts val="300"/>
              </a:spcAft>
              <a:defRPr sz="1200" b="1">
                <a:solidFill>
                  <a:srgbClr val="536578"/>
                </a:solidFill>
                <a:latin typeface="Liberation Sans"/>
              </a:defRPr>
            </a:pPr>
            <a:r>
              <a:t>AREA</a:t>
            </a:r>
          </a:p>
        </p:txBody>
      </p:sp>
      <p:sp>
        <p:nvSpPr>
          <p:cNvPr id="10" name="Rectangle 9"/>
          <p:cNvSpPr/>
          <p:nvPr/>
        </p:nvSpPr>
        <p:spPr>
          <a:xfrm>
            <a:off x="2560320" y="1828800"/>
            <a:ext cx="3794760" cy="429768"/>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10528" y="1828800"/>
            <a:ext cx="5193792" cy="429768"/>
          </a:xfrm>
          <a:prstGeom prst="rect">
            <a:avLst/>
          </a:prstGeom>
          <a:solidFill>
            <a:srgbClr val="132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24912" y="1929384"/>
            <a:ext cx="3474720" cy="228600"/>
          </a:xfrm>
          <a:prstGeom prst="rect">
            <a:avLst/>
          </a:prstGeom>
          <a:noFill/>
        </p:spPr>
        <p:txBody>
          <a:bodyPr wrap="square" lIns="13716" rIns="13716" tIns="0" bIns="0">
            <a:spAutoFit/>
          </a:bodyPr>
          <a:lstStyle/>
          <a:p>
            <a:pPr>
              <a:spcAft>
                <a:spcPts val="300"/>
              </a:spcAft>
              <a:defRPr sz="1200" b="1">
                <a:solidFill>
                  <a:srgbClr val="536578"/>
                </a:solidFill>
                <a:latin typeface="Liberation Sans"/>
              </a:defRPr>
            </a:pPr>
            <a:r>
              <a:t>ORIGINAL REPOSITORY</a:t>
            </a:r>
          </a:p>
        </p:txBody>
      </p:sp>
      <p:sp>
        <p:nvSpPr>
          <p:cNvPr id="13" name="TextBox 12"/>
          <p:cNvSpPr txBox="1"/>
          <p:nvPr/>
        </p:nvSpPr>
        <p:spPr>
          <a:xfrm>
            <a:off x="6675120" y="1929384"/>
            <a:ext cx="4754880" cy="228600"/>
          </a:xfrm>
          <a:prstGeom prst="rect">
            <a:avLst/>
          </a:prstGeom>
          <a:noFill/>
        </p:spPr>
        <p:txBody>
          <a:bodyPr wrap="square" lIns="13716" rIns="13716" tIns="0" bIns="0">
            <a:spAutoFit/>
          </a:bodyPr>
          <a:lstStyle/>
          <a:p>
            <a:pPr>
              <a:spcAft>
                <a:spcPts val="300"/>
              </a:spcAft>
              <a:defRPr sz="1200" b="1">
                <a:solidFill>
                  <a:srgbClr val="66DDD5"/>
                </a:solidFill>
                <a:latin typeface="Liberation Sans"/>
              </a:defRPr>
            </a:pPr>
            <a:r>
              <a:t>CURRENT REPOSITORY — ADDED / CHANGED</a:t>
            </a:r>
          </a:p>
        </p:txBody>
      </p:sp>
      <p:sp>
        <p:nvSpPr>
          <p:cNvPr id="14" name="Rectangle 13"/>
          <p:cNvSpPr/>
          <p:nvPr/>
        </p:nvSpPr>
        <p:spPr>
          <a:xfrm>
            <a:off x="457200" y="2414016"/>
            <a:ext cx="11247120" cy="658368"/>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2551176"/>
            <a:ext cx="1874519" cy="457200"/>
          </a:xfrm>
          <a:prstGeom prst="rect">
            <a:avLst/>
          </a:prstGeom>
          <a:noFill/>
        </p:spPr>
        <p:txBody>
          <a:bodyPr wrap="square" lIns="13716" rIns="13716" tIns="0" bIns="0">
            <a:spAutoFit/>
          </a:bodyPr>
          <a:lstStyle/>
          <a:p>
            <a:pPr>
              <a:spcAft>
                <a:spcPts val="300"/>
              </a:spcAft>
              <a:defRPr sz="1600" b="1">
                <a:solidFill>
                  <a:srgbClr val="132B43"/>
                </a:solidFill>
                <a:latin typeface="Liberation Sans"/>
              </a:defRPr>
            </a:pPr>
            <a:r>
              <a:t>Simulation engine</a:t>
            </a:r>
          </a:p>
        </p:txBody>
      </p:sp>
      <p:sp>
        <p:nvSpPr>
          <p:cNvPr id="16" name="TextBox 15"/>
          <p:cNvSpPr txBox="1"/>
          <p:nvPr/>
        </p:nvSpPr>
        <p:spPr>
          <a:xfrm>
            <a:off x="2724912" y="2523744"/>
            <a:ext cx="3502152" cy="539496"/>
          </a:xfrm>
          <a:prstGeom prst="rect">
            <a:avLst/>
          </a:prstGeom>
          <a:noFill/>
        </p:spPr>
        <p:txBody>
          <a:bodyPr wrap="square" lIns="13716" rIns="13716" tIns="0" bIns="0">
            <a:spAutoFit/>
          </a:bodyPr>
          <a:lstStyle/>
          <a:p>
            <a:pPr>
              <a:spcAft>
                <a:spcPts val="300"/>
              </a:spcAft>
              <a:defRPr sz="1600" b="0">
                <a:solidFill>
                  <a:srgbClr val="536578"/>
                </a:solidFill>
                <a:latin typeface="Liberation Sans"/>
              </a:defRPr>
            </a:pPr>
            <a:r>
              <a:t>Isaac Gym runs the robot physics.</a:t>
            </a:r>
          </a:p>
        </p:txBody>
      </p:sp>
      <p:sp>
        <p:nvSpPr>
          <p:cNvPr id="17" name="TextBox 16"/>
          <p:cNvSpPr txBox="1"/>
          <p:nvPr/>
        </p:nvSpPr>
        <p:spPr>
          <a:xfrm>
            <a:off x="6675120" y="2523744"/>
            <a:ext cx="4791456" cy="539496"/>
          </a:xfrm>
          <a:prstGeom prst="rect">
            <a:avLst/>
          </a:prstGeom>
          <a:noFill/>
        </p:spPr>
        <p:txBody>
          <a:bodyPr wrap="square" lIns="13716" rIns="13716" tIns="0" bIns="0">
            <a:spAutoFit/>
          </a:bodyPr>
          <a:lstStyle/>
          <a:p>
            <a:pPr>
              <a:spcAft>
                <a:spcPts val="300"/>
              </a:spcAft>
              <a:defRPr sz="1600" b="0">
                <a:solidFill>
                  <a:srgbClr val="132B43"/>
                </a:solidFill>
                <a:latin typeface="Liberation Sans"/>
              </a:defRPr>
            </a:pPr>
            <a:r>
              <a:t>Moved to Isaac Lab; adapted control and robot interfaces.</a:t>
            </a:r>
          </a:p>
        </p:txBody>
      </p:sp>
      <p:sp>
        <p:nvSpPr>
          <p:cNvPr id="18" name="Rectangle 17"/>
          <p:cNvSpPr/>
          <p:nvPr/>
        </p:nvSpPr>
        <p:spPr>
          <a:xfrm>
            <a:off x="457200" y="3172968"/>
            <a:ext cx="11247120" cy="658368"/>
          </a:xfrm>
          <a:prstGeom prst="rect">
            <a:avLst/>
          </a:prstGeom>
          <a:solidFill>
            <a:srgbClr val="FAF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3310128"/>
            <a:ext cx="1874519" cy="457200"/>
          </a:xfrm>
          <a:prstGeom prst="rect">
            <a:avLst/>
          </a:prstGeom>
          <a:noFill/>
        </p:spPr>
        <p:txBody>
          <a:bodyPr wrap="square" lIns="13716" rIns="13716" tIns="0" bIns="0">
            <a:spAutoFit/>
          </a:bodyPr>
          <a:lstStyle/>
          <a:p>
            <a:pPr>
              <a:spcAft>
                <a:spcPts val="300"/>
              </a:spcAft>
              <a:defRPr sz="1600" b="1">
                <a:solidFill>
                  <a:srgbClr val="132B43"/>
                </a:solidFill>
                <a:latin typeface="Liberation Sans"/>
              </a:defRPr>
            </a:pPr>
            <a:r>
              <a:t>Fingertips</a:t>
            </a:r>
          </a:p>
        </p:txBody>
      </p:sp>
      <p:sp>
        <p:nvSpPr>
          <p:cNvPr id="20" name="TextBox 19"/>
          <p:cNvSpPr txBox="1"/>
          <p:nvPr/>
        </p:nvSpPr>
        <p:spPr>
          <a:xfrm>
            <a:off x="2724912" y="3282696"/>
            <a:ext cx="3502152" cy="539496"/>
          </a:xfrm>
          <a:prstGeom prst="rect">
            <a:avLst/>
          </a:prstGeom>
          <a:noFill/>
        </p:spPr>
        <p:txBody>
          <a:bodyPr wrap="square" lIns="13716" rIns="13716" tIns="0" bIns="0">
            <a:spAutoFit/>
          </a:bodyPr>
          <a:lstStyle/>
          <a:p>
            <a:pPr>
              <a:spcAft>
                <a:spcPts val="300"/>
              </a:spcAft>
              <a:defRPr sz="1600" b="0">
                <a:solidFill>
                  <a:srgbClr val="536578"/>
                </a:solidFill>
                <a:latin typeface="Liberation Sans"/>
              </a:defRPr>
            </a:pPr>
            <a:r>
              <a:t>Standard robot-hand fingertips.</a:t>
            </a:r>
          </a:p>
        </p:txBody>
      </p:sp>
      <p:sp>
        <p:nvSpPr>
          <p:cNvPr id="21" name="TextBox 20"/>
          <p:cNvSpPr txBox="1"/>
          <p:nvPr/>
        </p:nvSpPr>
        <p:spPr>
          <a:xfrm>
            <a:off x="6675120" y="3282696"/>
            <a:ext cx="4791456" cy="539496"/>
          </a:xfrm>
          <a:prstGeom prst="rect">
            <a:avLst/>
          </a:prstGeom>
          <a:noFill/>
        </p:spPr>
        <p:txBody>
          <a:bodyPr wrap="square" lIns="13716" rIns="13716" tIns="0" bIns="0">
            <a:spAutoFit/>
          </a:bodyPr>
          <a:lstStyle/>
          <a:p>
            <a:pPr>
              <a:spcAft>
                <a:spcPts val="300"/>
              </a:spcAft>
              <a:defRPr sz="1600" b="0">
                <a:solidFill>
                  <a:srgbClr val="132B43"/>
                </a:solidFill>
                <a:latin typeface="Liberation Sans"/>
              </a:defRPr>
            </a:pPr>
            <a:r>
              <a:t>Added four DIGIT touch sensors: small cameras behind soft pads.</a:t>
            </a:r>
          </a:p>
        </p:txBody>
      </p:sp>
      <p:sp>
        <p:nvSpPr>
          <p:cNvPr id="22" name="Rectangle 21"/>
          <p:cNvSpPr/>
          <p:nvPr/>
        </p:nvSpPr>
        <p:spPr>
          <a:xfrm>
            <a:off x="457200" y="3931920"/>
            <a:ext cx="11247120" cy="658368"/>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4069080"/>
            <a:ext cx="1874519" cy="457200"/>
          </a:xfrm>
          <a:prstGeom prst="rect">
            <a:avLst/>
          </a:prstGeom>
          <a:noFill/>
        </p:spPr>
        <p:txBody>
          <a:bodyPr wrap="square" lIns="13716" rIns="13716" tIns="0" bIns="0">
            <a:spAutoFit/>
          </a:bodyPr>
          <a:lstStyle/>
          <a:p>
            <a:pPr>
              <a:spcAft>
                <a:spcPts val="300"/>
              </a:spcAft>
              <a:defRPr sz="1600" b="1">
                <a:solidFill>
                  <a:srgbClr val="132B43"/>
                </a:solidFill>
                <a:latin typeface="Liberation Sans"/>
              </a:defRPr>
            </a:pPr>
            <a:r>
              <a:t>Object shapes</a:t>
            </a:r>
          </a:p>
        </p:txBody>
      </p:sp>
      <p:sp>
        <p:nvSpPr>
          <p:cNvPr id="24" name="TextBox 23"/>
          <p:cNvSpPr txBox="1"/>
          <p:nvPr/>
        </p:nvSpPr>
        <p:spPr>
          <a:xfrm>
            <a:off x="2724912" y="4041648"/>
            <a:ext cx="3502152" cy="539496"/>
          </a:xfrm>
          <a:prstGeom prst="rect">
            <a:avLst/>
          </a:prstGeom>
          <a:noFill/>
        </p:spPr>
        <p:txBody>
          <a:bodyPr wrap="square" lIns="13716" rIns="13716" tIns="0" bIns="0">
            <a:spAutoFit/>
          </a:bodyPr>
          <a:lstStyle/>
          <a:p>
            <a:pPr>
              <a:spcAft>
                <a:spcPts val="300"/>
              </a:spcAft>
              <a:defRPr sz="1600" b="0">
                <a:solidFill>
                  <a:srgbClr val="536578"/>
                </a:solidFill>
                <a:latin typeface="Liberation Sans"/>
              </a:defRPr>
            </a:pPr>
            <a:r>
              <a:t>Simple shapes, such as spheres</a:t>
            </a:r>
          </a:p>
          <a:p>
            <a:pPr>
              <a:spcAft>
                <a:spcPts val="300"/>
              </a:spcAft>
              <a:defRPr sz="1600" b="0">
                <a:solidFill>
                  <a:srgbClr val="536578"/>
                </a:solidFill>
                <a:latin typeface="Liberation Sans"/>
              </a:defRPr>
            </a:pPr>
            <a:r>
              <a:t>and cylinders.</a:t>
            </a:r>
          </a:p>
        </p:txBody>
      </p:sp>
      <p:sp>
        <p:nvSpPr>
          <p:cNvPr id="25" name="TextBox 24"/>
          <p:cNvSpPr txBox="1"/>
          <p:nvPr/>
        </p:nvSpPr>
        <p:spPr>
          <a:xfrm>
            <a:off x="6675120" y="4041648"/>
            <a:ext cx="4791456" cy="539496"/>
          </a:xfrm>
          <a:prstGeom prst="rect">
            <a:avLst/>
          </a:prstGeom>
          <a:noFill/>
        </p:spPr>
        <p:txBody>
          <a:bodyPr wrap="square" lIns="13716" rIns="13716" tIns="0" bIns="0">
            <a:spAutoFit/>
          </a:bodyPr>
          <a:lstStyle/>
          <a:p>
            <a:pPr>
              <a:spcAft>
                <a:spcPts val="300"/>
              </a:spcAft>
              <a:defRPr sz="1600" b="0">
                <a:solidFill>
                  <a:srgbClr val="132B43"/>
                </a:solidFill>
                <a:latin typeface="Liberation Sans"/>
              </a:defRPr>
            </a:pPr>
            <a:r>
              <a:t>Added mesh models of everyday objects</a:t>
            </a:r>
          </a:p>
          <a:p>
            <a:pPr>
              <a:spcAft>
                <a:spcPts val="300"/>
              </a:spcAft>
              <a:defRPr sz="1600" b="0">
                <a:solidFill>
                  <a:srgbClr val="132B43"/>
                </a:solidFill>
                <a:latin typeface="Liberation Sans"/>
              </a:defRPr>
            </a:pPr>
            <a:r>
              <a:t>from YCB and DexTouch collections.</a:t>
            </a:r>
          </a:p>
        </p:txBody>
      </p:sp>
      <p:sp>
        <p:nvSpPr>
          <p:cNvPr id="26" name="Rectangle 25"/>
          <p:cNvSpPr/>
          <p:nvPr/>
        </p:nvSpPr>
        <p:spPr>
          <a:xfrm>
            <a:off x="457200" y="4690872"/>
            <a:ext cx="11247120" cy="658368"/>
          </a:xfrm>
          <a:prstGeom prst="rect">
            <a:avLst/>
          </a:prstGeom>
          <a:solidFill>
            <a:srgbClr val="FAF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4360" y="4828032"/>
            <a:ext cx="1874519" cy="457200"/>
          </a:xfrm>
          <a:prstGeom prst="rect">
            <a:avLst/>
          </a:prstGeom>
          <a:noFill/>
        </p:spPr>
        <p:txBody>
          <a:bodyPr wrap="square" lIns="13716" rIns="13716" tIns="0" bIns="0">
            <a:spAutoFit/>
          </a:bodyPr>
          <a:lstStyle/>
          <a:p>
            <a:pPr>
              <a:spcAft>
                <a:spcPts val="300"/>
              </a:spcAft>
              <a:defRPr sz="1600" b="1">
                <a:solidFill>
                  <a:srgbClr val="132B43"/>
                </a:solidFill>
                <a:latin typeface="Liberation Sans"/>
              </a:defRPr>
            </a:pPr>
            <a:r>
              <a:t>Research output</a:t>
            </a:r>
          </a:p>
        </p:txBody>
      </p:sp>
      <p:sp>
        <p:nvSpPr>
          <p:cNvPr id="28" name="TextBox 27"/>
          <p:cNvSpPr txBox="1"/>
          <p:nvPr/>
        </p:nvSpPr>
        <p:spPr>
          <a:xfrm>
            <a:off x="2724912" y="4800600"/>
            <a:ext cx="3502152" cy="539496"/>
          </a:xfrm>
          <a:prstGeom prst="rect">
            <a:avLst/>
          </a:prstGeom>
          <a:noFill/>
        </p:spPr>
        <p:txBody>
          <a:bodyPr wrap="square" lIns="13716" rIns="13716" tIns="0" bIns="0">
            <a:spAutoFit/>
          </a:bodyPr>
          <a:lstStyle/>
          <a:p>
            <a:pPr>
              <a:spcAft>
                <a:spcPts val="300"/>
              </a:spcAft>
              <a:defRPr sz="1600" b="0">
                <a:solidFill>
                  <a:srgbClr val="536578"/>
                </a:solidFill>
                <a:latin typeface="Liberation Sans"/>
              </a:defRPr>
            </a:pPr>
            <a:r>
              <a:t>Learned rotation behavior</a:t>
            </a:r>
          </a:p>
          <a:p>
            <a:pPr>
              <a:spcAft>
                <a:spcPts val="300"/>
              </a:spcAft>
              <a:defRPr sz="1600" b="0">
                <a:solidFill>
                  <a:srgbClr val="536578"/>
                </a:solidFill>
                <a:latin typeface="Liberation Sans"/>
              </a:defRPr>
            </a:pPr>
            <a:r>
              <a:t>and robot deployment.</a:t>
            </a:r>
          </a:p>
        </p:txBody>
      </p:sp>
      <p:sp>
        <p:nvSpPr>
          <p:cNvPr id="29" name="TextBox 28"/>
          <p:cNvSpPr txBox="1"/>
          <p:nvPr/>
        </p:nvSpPr>
        <p:spPr>
          <a:xfrm>
            <a:off x="6675120" y="4800600"/>
            <a:ext cx="4791456" cy="539496"/>
          </a:xfrm>
          <a:prstGeom prst="rect">
            <a:avLst/>
          </a:prstGeom>
          <a:noFill/>
        </p:spPr>
        <p:txBody>
          <a:bodyPr wrap="square" lIns="13716" rIns="13716" tIns="0" bIns="0">
            <a:spAutoFit/>
          </a:bodyPr>
          <a:lstStyle/>
          <a:p>
            <a:pPr>
              <a:spcAft>
                <a:spcPts val="300"/>
              </a:spcAft>
              <a:defRPr sz="1600" b="0">
                <a:solidFill>
                  <a:srgbClr val="132B43"/>
                </a:solidFill>
                <a:latin typeface="Liberation Sans"/>
              </a:defRPr>
            </a:pPr>
            <a:r>
              <a:t>Also exports touch images, scene images,</a:t>
            </a:r>
          </a:p>
          <a:p>
            <a:pPr>
              <a:spcAft>
                <a:spcPts val="300"/>
              </a:spcAft>
              <a:defRPr sz="1600" b="0">
                <a:solidFill>
                  <a:srgbClr val="132B43"/>
                </a:solidFill>
                <a:latin typeface="Liberation Sans"/>
              </a:defRPr>
            </a:pPr>
            <a:r>
              <a:t>3D distances and known object geometry.</a:t>
            </a:r>
          </a:p>
        </p:txBody>
      </p:sp>
      <p:sp>
        <p:nvSpPr>
          <p:cNvPr id="30" name="Rectangle 29"/>
          <p:cNvSpPr/>
          <p:nvPr/>
        </p:nvSpPr>
        <p:spPr>
          <a:xfrm>
            <a:off x="457200" y="5797296"/>
            <a:ext cx="11247120" cy="429768"/>
          </a:xfrm>
          <a:prstGeom prst="rect">
            <a:avLst/>
          </a:prstGeom>
          <a:solidFill>
            <a:srgbClr val="E3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94360" y="5879592"/>
            <a:ext cx="10972800" cy="274320"/>
          </a:xfrm>
          <a:prstGeom prst="rect">
            <a:avLst/>
          </a:prstGeom>
          <a:noFill/>
        </p:spPr>
        <p:txBody>
          <a:bodyPr wrap="square" lIns="13716" rIns="13716" tIns="0" bIns="0">
            <a:spAutoFit/>
          </a:bodyPr>
          <a:lstStyle/>
          <a:p>
            <a:pPr>
              <a:spcAft>
                <a:spcPts val="300"/>
              </a:spcAft>
              <a:defRPr sz="1500" b="1">
                <a:solidFill>
                  <a:srgbClr val="007F82"/>
                </a:solidFill>
                <a:latin typeface="Liberation Sans"/>
              </a:defRPr>
            </a:pPr>
            <a:r>
              <a:t>Core learning method retained: the main contribution is simulation, sensing and reusable research data.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0972800" cy="228600"/>
          </a:xfrm>
          <a:prstGeom prst="rect">
            <a:avLst/>
          </a:prstGeom>
          <a:noFill/>
        </p:spPr>
        <p:txBody>
          <a:bodyPr wrap="square" lIns="13716" rIns="13716" tIns="0" bIns="0">
            <a:spAutoFit/>
          </a:bodyPr>
          <a:lstStyle/>
          <a:p>
            <a:pPr>
              <a:spcAft>
                <a:spcPts val="300"/>
              </a:spcAft>
              <a:defRPr sz="1000" b="1">
                <a:solidFill>
                  <a:srgbClr val="007F82"/>
                </a:solidFill>
                <a:latin typeface="Liberation Sans"/>
              </a:defRPr>
            </a:pPr>
            <a:r>
              <a:t>ALLEGRO IN-HAND ROTATION   /   WHAT CHANGED • WHY IT MATTERS • DEVELOPMENT CHALLENGES</a:t>
            </a:r>
          </a:p>
        </p:txBody>
      </p:sp>
      <p:sp>
        <p:nvSpPr>
          <p:cNvPr id="4" name="TextBox 3"/>
          <p:cNvSpPr txBox="1"/>
          <p:nvPr/>
        </p:nvSpPr>
        <p:spPr>
          <a:xfrm>
            <a:off x="457200" y="694944"/>
            <a:ext cx="11247120" cy="502920"/>
          </a:xfrm>
          <a:prstGeom prst="rect">
            <a:avLst/>
          </a:prstGeom>
          <a:noFill/>
        </p:spPr>
        <p:txBody>
          <a:bodyPr wrap="square" lIns="13716" rIns="13716" tIns="0" bIns="0">
            <a:spAutoFit/>
          </a:bodyPr>
          <a:lstStyle/>
          <a:p>
            <a:pPr>
              <a:spcAft>
                <a:spcPts val="300"/>
              </a:spcAft>
              <a:defRPr sz="2800" b="1">
                <a:solidFill>
                  <a:srgbClr val="132B43"/>
                </a:solidFill>
                <a:latin typeface="Liberation Sans"/>
              </a:defRPr>
            </a:pPr>
            <a:r>
              <a:t>The new capability: paired “see + touch” experiments</a:t>
            </a:r>
          </a:p>
        </p:txBody>
      </p:sp>
      <p:sp>
        <p:nvSpPr>
          <p:cNvPr id="5" name="TextBox 4"/>
          <p:cNvSpPr txBox="1"/>
          <p:nvPr/>
        </p:nvSpPr>
        <p:spPr>
          <a:xfrm>
            <a:off x="457200" y="1280160"/>
            <a:ext cx="11155680" cy="438912"/>
          </a:xfrm>
          <a:prstGeom prst="rect">
            <a:avLst/>
          </a:prstGeom>
          <a:noFill/>
        </p:spPr>
        <p:txBody>
          <a:bodyPr wrap="square" lIns="13716" rIns="13716" tIns="0" bIns="0">
            <a:spAutoFit/>
          </a:bodyPr>
          <a:lstStyle/>
          <a:p>
            <a:pPr>
              <a:spcAft>
                <a:spcPts val="300"/>
              </a:spcAft>
              <a:defRPr sz="1600" b="0">
                <a:solidFill>
                  <a:srgbClr val="536578"/>
                </a:solidFill>
                <a:latin typeface="Liberation Sans"/>
              </a:defRPr>
            </a:pPr>
            <a:r>
              <a:t>A learned controller moves the object while the simulator records measurements and the true state at the same time.</a:t>
            </a:r>
          </a:p>
        </p:txBody>
      </p:sp>
      <p:sp>
        <p:nvSpPr>
          <p:cNvPr id="6" name="Rectangle 5"/>
          <p:cNvSpPr/>
          <p:nvPr/>
        </p:nvSpPr>
        <p:spPr>
          <a:xfrm>
            <a:off x="457200" y="6400800"/>
            <a:ext cx="11247120" cy="13716"/>
          </a:xfrm>
          <a:prstGeom prst="rect">
            <a:avLst/>
          </a:prstGeom>
          <a:solidFill>
            <a:srgbClr val="D9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01384"/>
            <a:ext cx="10881360" cy="210312"/>
          </a:xfrm>
          <a:prstGeom prst="rect">
            <a:avLst/>
          </a:prstGeom>
          <a:noFill/>
        </p:spPr>
        <p:txBody>
          <a:bodyPr wrap="square" lIns="13716" rIns="13716" tIns="0" bIns="0">
            <a:spAutoFit/>
          </a:bodyPr>
          <a:lstStyle/>
          <a:p>
            <a:pPr>
              <a:spcAft>
                <a:spcPts val="300"/>
              </a:spcAft>
              <a:defRPr sz="900" b="0">
                <a:solidFill>
                  <a:srgbClr val="536578"/>
                </a:solidFill>
                <a:latin typeface="Liberation Sans"/>
              </a:defRPr>
            </a:pPr>
            <a:r>
              <a:t>New collectors: collect_stage1_feelsight_dataset.py / collect_stage2_feelsight_dataset.py and scripts/dataset_collection/.</a:t>
            </a:r>
          </a:p>
        </p:txBody>
      </p:sp>
      <p:sp>
        <p:nvSpPr>
          <p:cNvPr id="8" name="TextBox 7"/>
          <p:cNvSpPr txBox="1"/>
          <p:nvPr/>
        </p:nvSpPr>
        <p:spPr>
          <a:xfrm>
            <a:off x="11201400" y="6464808"/>
            <a:ext cx="548640" cy="274320"/>
          </a:xfrm>
          <a:prstGeom prst="rect">
            <a:avLst/>
          </a:prstGeom>
          <a:noFill/>
        </p:spPr>
        <p:txBody>
          <a:bodyPr wrap="square" lIns="13716" rIns="13716" tIns="0" bIns="0">
            <a:spAutoFit/>
          </a:bodyPr>
          <a:lstStyle/>
          <a:p>
            <a:pPr>
              <a:spcAft>
                <a:spcPts val="300"/>
              </a:spcAft>
              <a:defRPr sz="1400" b="1">
                <a:solidFill>
                  <a:srgbClr val="007F82"/>
                </a:solidFill>
                <a:latin typeface="Liberation Sans"/>
              </a:defRPr>
            </a:pPr>
            <a:r>
              <a:t>02</a:t>
            </a:r>
          </a:p>
        </p:txBody>
      </p:sp>
      <p:sp>
        <p:nvSpPr>
          <p:cNvPr id="9" name="Rectangle 8"/>
          <p:cNvSpPr/>
          <p:nvPr/>
        </p:nvSpPr>
        <p:spPr>
          <a:xfrm>
            <a:off x="457200" y="1965960"/>
            <a:ext cx="2688336" cy="1133856"/>
          </a:xfrm>
          <a:prstGeom prst="rect">
            <a:avLst/>
          </a:prstGeom>
          <a:solidFill>
            <a:srgbClr val="132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3504" y="2130552"/>
            <a:ext cx="2395728" cy="237744"/>
          </a:xfrm>
          <a:prstGeom prst="rect">
            <a:avLst/>
          </a:prstGeom>
          <a:noFill/>
        </p:spPr>
        <p:txBody>
          <a:bodyPr wrap="square" lIns="13716" rIns="13716" tIns="0" bIns="0">
            <a:spAutoFit/>
          </a:bodyPr>
          <a:lstStyle/>
          <a:p>
            <a:pPr>
              <a:spcAft>
                <a:spcPts val="300"/>
              </a:spcAft>
              <a:defRPr sz="1300" b="1">
                <a:solidFill>
                  <a:srgbClr val="66DDD5"/>
                </a:solidFill>
                <a:latin typeface="Liberation Sans"/>
              </a:defRPr>
            </a:pPr>
            <a:r>
              <a:t>1  MOVE</a:t>
            </a:r>
          </a:p>
        </p:txBody>
      </p:sp>
      <p:sp>
        <p:nvSpPr>
          <p:cNvPr id="11" name="TextBox 10"/>
          <p:cNvSpPr txBox="1"/>
          <p:nvPr/>
        </p:nvSpPr>
        <p:spPr>
          <a:xfrm>
            <a:off x="603504" y="2542032"/>
            <a:ext cx="2395728" cy="530352"/>
          </a:xfrm>
          <a:prstGeom prst="rect">
            <a:avLst/>
          </a:prstGeom>
          <a:noFill/>
        </p:spPr>
        <p:txBody>
          <a:bodyPr wrap="square" lIns="13716" rIns="13716" tIns="0" bIns="0">
            <a:spAutoFit/>
          </a:bodyPr>
          <a:lstStyle/>
          <a:p>
            <a:pPr>
              <a:spcAft>
                <a:spcPts val="300"/>
              </a:spcAft>
              <a:defRPr sz="1600" b="0">
                <a:solidFill>
                  <a:srgbClr val="FFFFFF"/>
                </a:solidFill>
                <a:latin typeface="Liberation Sans"/>
              </a:defRPr>
            </a:pPr>
            <a:r>
              <a:t>The learned controller</a:t>
            </a:r>
          </a:p>
          <a:p>
            <a:pPr>
              <a:spcAft>
                <a:spcPts val="300"/>
              </a:spcAft>
              <a:defRPr sz="1600" b="0">
                <a:solidFill>
                  <a:srgbClr val="FFFFFF"/>
                </a:solidFill>
                <a:latin typeface="Liberation Sans"/>
              </a:defRPr>
            </a:pPr>
            <a:r>
              <a:t>rotates an object.</a:t>
            </a:r>
          </a:p>
        </p:txBody>
      </p:sp>
      <p:sp>
        <p:nvSpPr>
          <p:cNvPr id="12" name="Rectangle 11"/>
          <p:cNvSpPr/>
          <p:nvPr/>
        </p:nvSpPr>
        <p:spPr>
          <a:xfrm>
            <a:off x="3310128" y="1965960"/>
            <a:ext cx="2688336" cy="1133856"/>
          </a:xfrm>
          <a:prstGeom prst="rect">
            <a:avLst/>
          </a:prstGeom>
          <a:solidFill>
            <a:srgbClr val="132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6432" y="2130552"/>
            <a:ext cx="2395728" cy="237744"/>
          </a:xfrm>
          <a:prstGeom prst="rect">
            <a:avLst/>
          </a:prstGeom>
          <a:noFill/>
        </p:spPr>
        <p:txBody>
          <a:bodyPr wrap="square" lIns="13716" rIns="13716" tIns="0" bIns="0">
            <a:spAutoFit/>
          </a:bodyPr>
          <a:lstStyle/>
          <a:p>
            <a:pPr>
              <a:spcAft>
                <a:spcPts val="300"/>
              </a:spcAft>
              <a:defRPr sz="1300" b="1">
                <a:solidFill>
                  <a:srgbClr val="66DDD5"/>
                </a:solidFill>
                <a:latin typeface="Liberation Sans"/>
              </a:defRPr>
            </a:pPr>
            <a:r>
              <a:t>2  MEASURE</a:t>
            </a:r>
          </a:p>
        </p:txBody>
      </p:sp>
      <p:sp>
        <p:nvSpPr>
          <p:cNvPr id="14" name="TextBox 13"/>
          <p:cNvSpPr txBox="1"/>
          <p:nvPr/>
        </p:nvSpPr>
        <p:spPr>
          <a:xfrm>
            <a:off x="3456432" y="2542032"/>
            <a:ext cx="2395728" cy="530352"/>
          </a:xfrm>
          <a:prstGeom prst="rect">
            <a:avLst/>
          </a:prstGeom>
          <a:noFill/>
        </p:spPr>
        <p:txBody>
          <a:bodyPr wrap="square" lIns="13716" rIns="13716" tIns="0" bIns="0">
            <a:spAutoFit/>
          </a:bodyPr>
          <a:lstStyle/>
          <a:p>
            <a:pPr>
              <a:spcAft>
                <a:spcPts val="300"/>
              </a:spcAft>
              <a:defRPr sz="1600" b="0">
                <a:solidFill>
                  <a:srgbClr val="FFFFFF"/>
                </a:solidFill>
                <a:latin typeface="Liberation Sans"/>
              </a:defRPr>
            </a:pPr>
            <a:r>
              <a:t>Four fingertip cameras</a:t>
            </a:r>
          </a:p>
          <a:p>
            <a:pPr>
              <a:spcAft>
                <a:spcPts val="300"/>
              </a:spcAft>
              <a:defRPr sz="1600" b="0">
                <a:solidFill>
                  <a:srgbClr val="FFFFFF"/>
                </a:solidFill>
                <a:latin typeface="Liberation Sans"/>
              </a:defRPr>
            </a:pPr>
            <a:r>
              <a:t>+ scene cameras.</a:t>
            </a:r>
          </a:p>
        </p:txBody>
      </p:sp>
      <p:sp>
        <p:nvSpPr>
          <p:cNvPr id="15" name="Rectangle 14"/>
          <p:cNvSpPr/>
          <p:nvPr/>
        </p:nvSpPr>
        <p:spPr>
          <a:xfrm>
            <a:off x="6163056" y="1965960"/>
            <a:ext cx="2688336" cy="1133856"/>
          </a:xfrm>
          <a:prstGeom prst="rect">
            <a:avLst/>
          </a:prstGeom>
          <a:solidFill>
            <a:srgbClr val="132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9360" y="2130552"/>
            <a:ext cx="2395728" cy="237744"/>
          </a:xfrm>
          <a:prstGeom prst="rect">
            <a:avLst/>
          </a:prstGeom>
          <a:noFill/>
        </p:spPr>
        <p:txBody>
          <a:bodyPr wrap="square" lIns="13716" rIns="13716" tIns="0" bIns="0">
            <a:spAutoFit/>
          </a:bodyPr>
          <a:lstStyle/>
          <a:p>
            <a:pPr>
              <a:spcAft>
                <a:spcPts val="300"/>
              </a:spcAft>
              <a:defRPr sz="1300" b="1">
                <a:solidFill>
                  <a:srgbClr val="66DDD5"/>
                </a:solidFill>
                <a:latin typeface="Liberation Sans"/>
              </a:defRPr>
            </a:pPr>
            <a:r>
              <a:t>3  ALIGN</a:t>
            </a:r>
          </a:p>
        </p:txBody>
      </p:sp>
      <p:sp>
        <p:nvSpPr>
          <p:cNvPr id="17" name="TextBox 16"/>
          <p:cNvSpPr txBox="1"/>
          <p:nvPr/>
        </p:nvSpPr>
        <p:spPr>
          <a:xfrm>
            <a:off x="6309360" y="2542032"/>
            <a:ext cx="2395728" cy="530352"/>
          </a:xfrm>
          <a:prstGeom prst="rect">
            <a:avLst/>
          </a:prstGeom>
          <a:noFill/>
        </p:spPr>
        <p:txBody>
          <a:bodyPr wrap="square" lIns="13716" rIns="13716" tIns="0" bIns="0">
            <a:spAutoFit/>
          </a:bodyPr>
          <a:lstStyle/>
          <a:p>
            <a:pPr>
              <a:spcAft>
                <a:spcPts val="300"/>
              </a:spcAft>
              <a:defRPr sz="1600" b="0">
                <a:solidFill>
                  <a:srgbClr val="FFFFFF"/>
                </a:solidFill>
                <a:latin typeface="Liberation Sans"/>
              </a:defRPr>
            </a:pPr>
            <a:r>
              <a:t>Match images to finger</a:t>
            </a:r>
          </a:p>
          <a:p>
            <a:pPr>
              <a:spcAft>
                <a:spcPts val="300"/>
              </a:spcAft>
              <a:defRPr sz="1600" b="0">
                <a:solidFill>
                  <a:srgbClr val="FFFFFF"/>
                </a:solidFill>
                <a:latin typeface="Liberation Sans"/>
              </a:defRPr>
            </a:pPr>
            <a:r>
              <a:t>positions and time.</a:t>
            </a:r>
          </a:p>
        </p:txBody>
      </p:sp>
      <p:sp>
        <p:nvSpPr>
          <p:cNvPr id="18" name="Rectangle 17"/>
          <p:cNvSpPr/>
          <p:nvPr/>
        </p:nvSpPr>
        <p:spPr>
          <a:xfrm>
            <a:off x="9015984" y="1965960"/>
            <a:ext cx="2688336" cy="1133856"/>
          </a:xfrm>
          <a:prstGeom prst="rect">
            <a:avLst/>
          </a:prstGeom>
          <a:solidFill>
            <a:srgbClr val="132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62288" y="2130552"/>
            <a:ext cx="2395728" cy="237744"/>
          </a:xfrm>
          <a:prstGeom prst="rect">
            <a:avLst/>
          </a:prstGeom>
          <a:noFill/>
        </p:spPr>
        <p:txBody>
          <a:bodyPr wrap="square" lIns="13716" rIns="13716" tIns="0" bIns="0">
            <a:spAutoFit/>
          </a:bodyPr>
          <a:lstStyle/>
          <a:p>
            <a:pPr>
              <a:spcAft>
                <a:spcPts val="300"/>
              </a:spcAft>
              <a:defRPr sz="1300" b="1">
                <a:solidFill>
                  <a:srgbClr val="66DDD5"/>
                </a:solidFill>
                <a:latin typeface="Liberation Sans"/>
              </a:defRPr>
            </a:pPr>
            <a:r>
              <a:t>4  EXPORT</a:t>
            </a:r>
          </a:p>
        </p:txBody>
      </p:sp>
      <p:sp>
        <p:nvSpPr>
          <p:cNvPr id="20" name="TextBox 19"/>
          <p:cNvSpPr txBox="1"/>
          <p:nvPr/>
        </p:nvSpPr>
        <p:spPr>
          <a:xfrm>
            <a:off x="9162288" y="2542032"/>
            <a:ext cx="2395728" cy="530352"/>
          </a:xfrm>
          <a:prstGeom prst="rect">
            <a:avLst/>
          </a:prstGeom>
          <a:noFill/>
        </p:spPr>
        <p:txBody>
          <a:bodyPr wrap="square" lIns="13716" rIns="13716" tIns="0" bIns="0">
            <a:spAutoFit/>
          </a:bodyPr>
          <a:lstStyle/>
          <a:p>
            <a:pPr>
              <a:spcAft>
                <a:spcPts val="300"/>
              </a:spcAft>
              <a:defRPr sz="1600" b="0">
                <a:solidFill>
                  <a:srgbClr val="FFFFFF"/>
                </a:solidFill>
                <a:latin typeface="Liberation Sans"/>
              </a:defRPr>
            </a:pPr>
            <a:r>
              <a:t>Load the recordings</a:t>
            </a:r>
          </a:p>
          <a:p>
            <a:pPr>
              <a:spcAft>
                <a:spcPts val="300"/>
              </a:spcAft>
              <a:defRPr sz="1600" b="0">
                <a:solidFill>
                  <a:srgbClr val="FFFFFF"/>
                </a:solidFill>
                <a:latin typeface="Liberation Sans"/>
              </a:defRPr>
            </a:pPr>
            <a:r>
              <a:t>into NeuralFeels.</a:t>
            </a:r>
          </a:p>
        </p:txBody>
      </p:sp>
      <p:sp>
        <p:nvSpPr>
          <p:cNvPr id="21" name="Chevron 20"/>
          <p:cNvSpPr/>
          <p:nvPr/>
        </p:nvSpPr>
        <p:spPr>
          <a:xfrm>
            <a:off x="3172968" y="2459736"/>
            <a:ext cx="118872" cy="201168"/>
          </a:xfrm>
          <a:prstGeom prst="chevron">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hevron 21"/>
          <p:cNvSpPr/>
          <p:nvPr/>
        </p:nvSpPr>
        <p:spPr>
          <a:xfrm>
            <a:off x="6025896" y="2459736"/>
            <a:ext cx="118872" cy="201168"/>
          </a:xfrm>
          <a:prstGeom prst="chevron">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hevron 22"/>
          <p:cNvSpPr/>
          <p:nvPr/>
        </p:nvSpPr>
        <p:spPr>
          <a:xfrm>
            <a:off x="8878824" y="2459736"/>
            <a:ext cx="118872" cy="201168"/>
          </a:xfrm>
          <a:prstGeom prst="chevron">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7200" y="3429000"/>
            <a:ext cx="3611880" cy="1975104"/>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1792" y="3621024"/>
            <a:ext cx="3282696" cy="457200"/>
          </a:xfrm>
          <a:prstGeom prst="rect">
            <a:avLst/>
          </a:prstGeom>
          <a:noFill/>
        </p:spPr>
        <p:txBody>
          <a:bodyPr wrap="square" lIns="13716" rIns="13716" tIns="0" bIns="0">
            <a:spAutoFit/>
          </a:bodyPr>
          <a:lstStyle/>
          <a:p>
            <a:pPr>
              <a:spcAft>
                <a:spcPts val="300"/>
              </a:spcAft>
              <a:defRPr sz="1700" b="1">
                <a:solidFill>
                  <a:srgbClr val="007F82"/>
                </a:solidFill>
                <a:latin typeface="Liberation Sans"/>
              </a:defRPr>
            </a:pPr>
            <a:r>
              <a:t>Touch becomes an image</a:t>
            </a:r>
          </a:p>
        </p:txBody>
      </p:sp>
      <p:sp>
        <p:nvSpPr>
          <p:cNvPr id="26" name="TextBox 25"/>
          <p:cNvSpPr txBox="1"/>
          <p:nvPr/>
        </p:nvSpPr>
        <p:spPr>
          <a:xfrm>
            <a:off x="621792" y="4197096"/>
            <a:ext cx="3282696" cy="1051560"/>
          </a:xfrm>
          <a:prstGeom prst="rect">
            <a:avLst/>
          </a:prstGeom>
          <a:noFill/>
        </p:spPr>
        <p:txBody>
          <a:bodyPr wrap="square" lIns="13716" rIns="13716" tIns="0" bIns="0">
            <a:spAutoFit/>
          </a:bodyPr>
          <a:lstStyle/>
          <a:p>
            <a:pPr>
              <a:spcAft>
                <a:spcPts val="300"/>
              </a:spcAft>
              <a:defRPr sz="1600" b="0">
                <a:solidFill>
                  <a:srgbClr val="132B43"/>
                </a:solidFill>
                <a:latin typeface="Liberation Sans"/>
              </a:defRPr>
            </a:pPr>
            <a:r>
              <a:t>Each virtual fingertip measures contact against an untouched reference. Calibrated rendering turns this into a touch image.</a:t>
            </a:r>
          </a:p>
        </p:txBody>
      </p:sp>
      <p:sp>
        <p:nvSpPr>
          <p:cNvPr id="27" name="Rectangle 26"/>
          <p:cNvSpPr/>
          <p:nvPr/>
        </p:nvSpPr>
        <p:spPr>
          <a:xfrm>
            <a:off x="4270248" y="3429000"/>
            <a:ext cx="3611880" cy="1975104"/>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34840" y="3621024"/>
            <a:ext cx="3282696" cy="457200"/>
          </a:xfrm>
          <a:prstGeom prst="rect">
            <a:avLst/>
          </a:prstGeom>
          <a:noFill/>
        </p:spPr>
        <p:txBody>
          <a:bodyPr wrap="square" lIns="13716" rIns="13716" tIns="0" bIns="0">
            <a:spAutoFit/>
          </a:bodyPr>
          <a:lstStyle/>
          <a:p>
            <a:pPr>
              <a:spcAft>
                <a:spcPts val="300"/>
              </a:spcAft>
              <a:defRPr sz="1700" b="1">
                <a:solidFill>
                  <a:srgbClr val="007F82"/>
                </a:solidFill>
                <a:latin typeface="Liberation Sans"/>
              </a:defRPr>
            </a:pPr>
            <a:r>
              <a:t>Geometry provides a reference</a:t>
            </a:r>
          </a:p>
        </p:txBody>
      </p:sp>
      <p:sp>
        <p:nvSpPr>
          <p:cNvPr id="29" name="TextBox 28"/>
          <p:cNvSpPr txBox="1"/>
          <p:nvPr/>
        </p:nvSpPr>
        <p:spPr>
          <a:xfrm>
            <a:off x="4434840" y="4197096"/>
            <a:ext cx="3282696" cy="1051560"/>
          </a:xfrm>
          <a:prstGeom prst="rect">
            <a:avLst/>
          </a:prstGeom>
          <a:noFill/>
        </p:spPr>
        <p:txBody>
          <a:bodyPr wrap="square" lIns="13716" rIns="13716" tIns="0" bIns="0">
            <a:spAutoFit/>
          </a:bodyPr>
          <a:lstStyle/>
          <a:p>
            <a:pPr>
              <a:spcAft>
                <a:spcPts val="300"/>
              </a:spcAft>
              <a:defRPr sz="1600" b="0">
                <a:solidFill>
                  <a:srgbClr val="132B43"/>
                </a:solidFill>
                <a:latin typeface="Liberation Sans"/>
              </a:defRPr>
            </a:pPr>
            <a:r>
              <a:t>The simulator knows the object’s shape and position. These provide a reference for evaluating an estimated 3D shape.</a:t>
            </a:r>
          </a:p>
        </p:txBody>
      </p:sp>
      <p:sp>
        <p:nvSpPr>
          <p:cNvPr id="30" name="Rectangle 29"/>
          <p:cNvSpPr/>
          <p:nvPr/>
        </p:nvSpPr>
        <p:spPr>
          <a:xfrm>
            <a:off x="8083296" y="3429000"/>
            <a:ext cx="3611880" cy="1975104"/>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47888" y="3621024"/>
            <a:ext cx="3282696" cy="457200"/>
          </a:xfrm>
          <a:prstGeom prst="rect">
            <a:avLst/>
          </a:prstGeom>
          <a:noFill/>
        </p:spPr>
        <p:txBody>
          <a:bodyPr wrap="square" lIns="13716" rIns="13716" tIns="0" bIns="0">
            <a:spAutoFit/>
          </a:bodyPr>
          <a:lstStyle/>
          <a:p>
            <a:pPr>
              <a:spcAft>
                <a:spcPts val="300"/>
              </a:spcAft>
              <a:defRPr sz="1700" b="1">
                <a:solidFill>
                  <a:srgbClr val="007F82"/>
                </a:solidFill>
                <a:latin typeface="Liberation Sans"/>
              </a:defRPr>
            </a:pPr>
            <a:r>
              <a:t>Data connects to perception</a:t>
            </a:r>
          </a:p>
        </p:txBody>
      </p:sp>
      <p:sp>
        <p:nvSpPr>
          <p:cNvPr id="32" name="TextBox 31"/>
          <p:cNvSpPr txBox="1"/>
          <p:nvPr/>
        </p:nvSpPr>
        <p:spPr>
          <a:xfrm>
            <a:off x="8247888" y="4197096"/>
            <a:ext cx="3282696" cy="1051560"/>
          </a:xfrm>
          <a:prstGeom prst="rect">
            <a:avLst/>
          </a:prstGeom>
          <a:noFill/>
        </p:spPr>
        <p:txBody>
          <a:bodyPr wrap="square" lIns="13716" rIns="13716" tIns="0" bIns="0">
            <a:spAutoFit/>
          </a:bodyPr>
          <a:lstStyle/>
          <a:p>
            <a:pPr>
              <a:spcAft>
                <a:spcPts val="300"/>
              </a:spcAft>
              <a:defRPr sz="1600" b="0">
                <a:solidFill>
                  <a:srgbClr val="132B43"/>
                </a:solidFill>
                <a:latin typeface="Liberation Sans"/>
              </a:defRPr>
            </a:pPr>
            <a:r>
              <a:t>The exporter matches NeuralFeels, a system for estimating object shape and motion from vision and touch.</a:t>
            </a:r>
          </a:p>
        </p:txBody>
      </p:sp>
      <p:sp>
        <p:nvSpPr>
          <p:cNvPr id="33" name="Rectangle 32"/>
          <p:cNvSpPr/>
          <p:nvPr/>
        </p:nvSpPr>
        <p:spPr>
          <a:xfrm>
            <a:off x="457200" y="5797296"/>
            <a:ext cx="11247120" cy="429768"/>
          </a:xfrm>
          <a:prstGeom prst="rect">
            <a:avLst/>
          </a:prstGeom>
          <a:solidFill>
            <a:srgbClr val="E3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94360" y="5879592"/>
            <a:ext cx="10972800" cy="274320"/>
          </a:xfrm>
          <a:prstGeom prst="rect">
            <a:avLst/>
          </a:prstGeom>
          <a:noFill/>
        </p:spPr>
        <p:txBody>
          <a:bodyPr wrap="square" lIns="13716" rIns="13716" tIns="0" bIns="0">
            <a:spAutoFit/>
          </a:bodyPr>
          <a:lstStyle/>
          <a:p>
            <a:pPr>
              <a:spcAft>
                <a:spcPts val="300"/>
              </a:spcAft>
              <a:defRPr sz="1500" b="1">
                <a:solidFill>
                  <a:srgbClr val="007F82"/>
                </a:solidFill>
                <a:latin typeface="Liberation Sans"/>
              </a:defRPr>
            </a:pPr>
            <a:r>
              <a:t>New research use: study how touch contributes to 3D perception during active object manipulation.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0972800" cy="228600"/>
          </a:xfrm>
          <a:prstGeom prst="rect">
            <a:avLst/>
          </a:prstGeom>
          <a:noFill/>
        </p:spPr>
        <p:txBody>
          <a:bodyPr wrap="square" lIns="13716" rIns="13716" tIns="0" bIns="0">
            <a:spAutoFit/>
          </a:bodyPr>
          <a:lstStyle/>
          <a:p>
            <a:pPr>
              <a:spcAft>
                <a:spcPts val="300"/>
              </a:spcAft>
              <a:defRPr sz="1000" b="1">
                <a:solidFill>
                  <a:srgbClr val="007F82"/>
                </a:solidFill>
                <a:latin typeface="Liberation Sans"/>
              </a:defRPr>
            </a:pPr>
            <a:r>
              <a:t>ALLEGRO IN-HAND ROTATION   /   WHAT CHANGED • WHY IT MATTERS • DEVELOPMENT CHALLENGES</a:t>
            </a:r>
          </a:p>
        </p:txBody>
      </p:sp>
      <p:sp>
        <p:nvSpPr>
          <p:cNvPr id="4" name="TextBox 3"/>
          <p:cNvSpPr txBox="1"/>
          <p:nvPr/>
        </p:nvSpPr>
        <p:spPr>
          <a:xfrm>
            <a:off x="457200" y="694944"/>
            <a:ext cx="11247120" cy="502920"/>
          </a:xfrm>
          <a:prstGeom prst="rect">
            <a:avLst/>
          </a:prstGeom>
          <a:noFill/>
        </p:spPr>
        <p:txBody>
          <a:bodyPr wrap="square" lIns="13716" rIns="13716" tIns="0" bIns="0">
            <a:spAutoFit/>
          </a:bodyPr>
          <a:lstStyle/>
          <a:p>
            <a:pPr>
              <a:spcAft>
                <a:spcPts val="300"/>
              </a:spcAft>
              <a:defRPr sz="2800" b="1">
                <a:solidFill>
                  <a:srgbClr val="132B43"/>
                </a:solidFill>
                <a:latin typeface="Liberation Sans"/>
              </a:defRPr>
            </a:pPr>
            <a:r>
              <a:t>Development difficulties: making the pieces agree</a:t>
            </a:r>
          </a:p>
        </p:txBody>
      </p:sp>
      <p:sp>
        <p:nvSpPr>
          <p:cNvPr id="5" name="TextBox 4"/>
          <p:cNvSpPr txBox="1"/>
          <p:nvPr/>
        </p:nvSpPr>
        <p:spPr>
          <a:xfrm>
            <a:off x="457200" y="1280160"/>
            <a:ext cx="11155680" cy="438912"/>
          </a:xfrm>
          <a:prstGeom prst="rect">
            <a:avLst/>
          </a:prstGeom>
          <a:noFill/>
        </p:spPr>
        <p:txBody>
          <a:bodyPr wrap="square" lIns="13716" rIns="13716" tIns="0" bIns="0">
            <a:spAutoFit/>
          </a:bodyPr>
          <a:lstStyle/>
          <a:p>
            <a:pPr>
              <a:spcAft>
                <a:spcPts val="300"/>
              </a:spcAft>
              <a:defRPr sz="1600" b="0">
                <a:solidFill>
                  <a:srgbClr val="536578"/>
                </a:solidFill>
                <a:latin typeface="Liberation Sans"/>
              </a:defRPr>
            </a:pPr>
            <a:r>
              <a:t>The difficult work was preserving physical meaning across simulator, sensor and dataset conventions.</a:t>
            </a:r>
          </a:p>
        </p:txBody>
      </p:sp>
      <p:sp>
        <p:nvSpPr>
          <p:cNvPr id="6" name="Rectangle 5"/>
          <p:cNvSpPr/>
          <p:nvPr/>
        </p:nvSpPr>
        <p:spPr>
          <a:xfrm>
            <a:off x="457200" y="6400800"/>
            <a:ext cx="11247120" cy="13716"/>
          </a:xfrm>
          <a:prstGeom prst="rect">
            <a:avLst/>
          </a:prstGeom>
          <a:solidFill>
            <a:srgbClr val="D9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01384"/>
            <a:ext cx="10881360" cy="210312"/>
          </a:xfrm>
          <a:prstGeom prst="rect">
            <a:avLst/>
          </a:prstGeom>
          <a:noFill/>
        </p:spPr>
        <p:txBody>
          <a:bodyPr wrap="square" lIns="13716" rIns="13716" tIns="0" bIns="0">
            <a:spAutoFit/>
          </a:bodyPr>
          <a:lstStyle/>
          <a:p>
            <a:pPr>
              <a:spcAft>
                <a:spcPts val="300"/>
              </a:spcAft>
              <a:defRPr sz="900" b="0">
                <a:solidFill>
                  <a:srgbClr val="536578"/>
                </a:solidFill>
                <a:latin typeface="Liberation Sans"/>
              </a:defRPr>
            </a:pPr>
            <a:r>
              <a:t>Difficulties and fixes are documented in implementation comments and export checks; no performance improvement is quantified here.</a:t>
            </a:r>
          </a:p>
        </p:txBody>
      </p:sp>
      <p:sp>
        <p:nvSpPr>
          <p:cNvPr id="8" name="TextBox 7"/>
          <p:cNvSpPr txBox="1"/>
          <p:nvPr/>
        </p:nvSpPr>
        <p:spPr>
          <a:xfrm>
            <a:off x="11201400" y="6464808"/>
            <a:ext cx="548640" cy="274320"/>
          </a:xfrm>
          <a:prstGeom prst="rect">
            <a:avLst/>
          </a:prstGeom>
          <a:noFill/>
        </p:spPr>
        <p:txBody>
          <a:bodyPr wrap="square" lIns="13716" rIns="13716" tIns="0" bIns="0">
            <a:spAutoFit/>
          </a:bodyPr>
          <a:lstStyle/>
          <a:p>
            <a:pPr>
              <a:spcAft>
                <a:spcPts val="300"/>
              </a:spcAft>
              <a:defRPr sz="1400" b="1">
                <a:solidFill>
                  <a:srgbClr val="007F82"/>
                </a:solidFill>
                <a:latin typeface="Liberation Sans"/>
              </a:defRPr>
            </a:pPr>
            <a:r>
              <a:t>03</a:t>
            </a:r>
          </a:p>
        </p:txBody>
      </p:sp>
      <p:sp>
        <p:nvSpPr>
          <p:cNvPr id="9" name="Rectangle 8"/>
          <p:cNvSpPr/>
          <p:nvPr/>
        </p:nvSpPr>
        <p:spPr>
          <a:xfrm>
            <a:off x="457200" y="1865376"/>
            <a:ext cx="2871216" cy="411480"/>
          </a:xfrm>
          <a:prstGeom prst="rect">
            <a:avLst/>
          </a:prstGeom>
          <a:solidFill>
            <a:srgbClr val="132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 y="1956816"/>
            <a:ext cx="2615184" cy="228600"/>
          </a:xfrm>
          <a:prstGeom prst="rect">
            <a:avLst/>
          </a:prstGeom>
          <a:noFill/>
        </p:spPr>
        <p:txBody>
          <a:bodyPr wrap="square" lIns="13716" rIns="13716" tIns="0" bIns="0">
            <a:spAutoFit/>
          </a:bodyPr>
          <a:lstStyle/>
          <a:p>
            <a:pPr>
              <a:spcAft>
                <a:spcPts val="300"/>
              </a:spcAft>
              <a:defRPr sz="1200" b="1">
                <a:solidFill>
                  <a:srgbClr val="66DDD5"/>
                </a:solidFill>
                <a:latin typeface="Liberation Sans"/>
              </a:defRPr>
            </a:pPr>
            <a:r>
              <a:t>DIFFICULTY</a:t>
            </a:r>
          </a:p>
        </p:txBody>
      </p:sp>
      <p:sp>
        <p:nvSpPr>
          <p:cNvPr id="11" name="Rectangle 10"/>
          <p:cNvSpPr/>
          <p:nvPr/>
        </p:nvSpPr>
        <p:spPr>
          <a:xfrm>
            <a:off x="3456432" y="1865376"/>
            <a:ext cx="3749039" cy="411480"/>
          </a:xfrm>
          <a:prstGeom prst="rect">
            <a:avLst/>
          </a:prstGeom>
          <a:solidFill>
            <a:srgbClr val="132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84448" y="1956816"/>
            <a:ext cx="3493007" cy="228600"/>
          </a:xfrm>
          <a:prstGeom prst="rect">
            <a:avLst/>
          </a:prstGeom>
          <a:noFill/>
        </p:spPr>
        <p:txBody>
          <a:bodyPr wrap="square" lIns="13716" rIns="13716" tIns="0" bIns="0">
            <a:spAutoFit/>
          </a:bodyPr>
          <a:lstStyle/>
          <a:p>
            <a:pPr>
              <a:spcAft>
                <a:spcPts val="300"/>
              </a:spcAft>
              <a:defRPr sz="1200" b="1">
                <a:solidFill>
                  <a:srgbClr val="66DDD5"/>
                </a:solidFill>
                <a:latin typeface="Liberation Sans"/>
              </a:defRPr>
            </a:pPr>
            <a:r>
              <a:t>WHY IT HAPPENED</a:t>
            </a:r>
          </a:p>
        </p:txBody>
      </p:sp>
      <p:sp>
        <p:nvSpPr>
          <p:cNvPr id="13" name="Rectangle 12"/>
          <p:cNvSpPr/>
          <p:nvPr/>
        </p:nvSpPr>
        <p:spPr>
          <a:xfrm>
            <a:off x="7333488" y="1865376"/>
            <a:ext cx="4370832" cy="411480"/>
          </a:xfrm>
          <a:prstGeom prst="rect">
            <a:avLst/>
          </a:prstGeom>
          <a:solidFill>
            <a:srgbClr val="132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61504" y="1956816"/>
            <a:ext cx="4114800" cy="228600"/>
          </a:xfrm>
          <a:prstGeom prst="rect">
            <a:avLst/>
          </a:prstGeom>
          <a:noFill/>
        </p:spPr>
        <p:txBody>
          <a:bodyPr wrap="square" lIns="13716" rIns="13716" tIns="0" bIns="0">
            <a:spAutoFit/>
          </a:bodyPr>
          <a:lstStyle/>
          <a:p>
            <a:pPr>
              <a:spcAft>
                <a:spcPts val="300"/>
              </a:spcAft>
              <a:defRPr sz="1200" b="1">
                <a:solidFill>
                  <a:srgbClr val="66DDD5"/>
                </a:solidFill>
                <a:latin typeface="Liberation Sans"/>
              </a:defRPr>
            </a:pPr>
            <a:r>
              <a:t>IMPLEMENTED RESPONSE</a:t>
            </a:r>
          </a:p>
        </p:txBody>
      </p:sp>
      <p:sp>
        <p:nvSpPr>
          <p:cNvPr id="15" name="Rectangle 14"/>
          <p:cNvSpPr/>
          <p:nvPr/>
        </p:nvSpPr>
        <p:spPr>
          <a:xfrm>
            <a:off x="457200" y="2423160"/>
            <a:ext cx="11247120" cy="704088"/>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2532888"/>
            <a:ext cx="2596896" cy="566928"/>
          </a:xfrm>
          <a:prstGeom prst="rect">
            <a:avLst/>
          </a:prstGeom>
          <a:noFill/>
        </p:spPr>
        <p:txBody>
          <a:bodyPr wrap="square" lIns="13716" rIns="13716" tIns="0" bIns="0">
            <a:spAutoFit/>
          </a:bodyPr>
          <a:lstStyle/>
          <a:p>
            <a:pPr>
              <a:spcAft>
                <a:spcPts val="300"/>
              </a:spcAft>
              <a:defRPr sz="1600" b="1">
                <a:solidFill>
                  <a:srgbClr val="B86A13"/>
                </a:solidFill>
                <a:latin typeface="Liberation Sans"/>
              </a:defRPr>
            </a:pPr>
            <a:r>
              <a:t>Keeping finger commands correct</a:t>
            </a:r>
          </a:p>
        </p:txBody>
      </p:sp>
      <p:sp>
        <p:nvSpPr>
          <p:cNvPr id="17" name="TextBox 16"/>
          <p:cNvSpPr txBox="1"/>
          <p:nvPr/>
        </p:nvSpPr>
        <p:spPr>
          <a:xfrm>
            <a:off x="3584448" y="2514600"/>
            <a:ext cx="3465576" cy="594360"/>
          </a:xfrm>
          <a:prstGeom prst="rect">
            <a:avLst/>
          </a:prstGeom>
          <a:noFill/>
        </p:spPr>
        <p:txBody>
          <a:bodyPr wrap="square" lIns="13716" rIns="13716" tIns="0" bIns="0">
            <a:spAutoFit/>
          </a:bodyPr>
          <a:lstStyle/>
          <a:p>
            <a:pPr>
              <a:spcAft>
                <a:spcPts val="300"/>
              </a:spcAft>
              <a:defRPr sz="1500" b="0">
                <a:solidFill>
                  <a:srgbClr val="536578"/>
                </a:solidFill>
                <a:latin typeface="Liberation Sans"/>
              </a:defRPr>
            </a:pPr>
            <a:r>
              <a:t>The new simulator lists the same joints in a different order.</a:t>
            </a:r>
          </a:p>
        </p:txBody>
      </p:sp>
      <p:sp>
        <p:nvSpPr>
          <p:cNvPr id="18" name="TextBox 17"/>
          <p:cNvSpPr txBox="1"/>
          <p:nvPr/>
        </p:nvSpPr>
        <p:spPr>
          <a:xfrm>
            <a:off x="7461504" y="2514600"/>
            <a:ext cx="4078224" cy="594360"/>
          </a:xfrm>
          <a:prstGeom prst="rect">
            <a:avLst/>
          </a:prstGeom>
          <a:noFill/>
        </p:spPr>
        <p:txBody>
          <a:bodyPr wrap="square" lIns="13716" rIns="13716" tIns="0" bIns="0">
            <a:spAutoFit/>
          </a:bodyPr>
          <a:lstStyle/>
          <a:p>
            <a:pPr>
              <a:spcAft>
                <a:spcPts val="300"/>
              </a:spcAft>
              <a:defRPr sz="1500" b="0">
                <a:solidFill>
                  <a:srgbClr val="132B43"/>
                </a:solidFill>
                <a:latin typeface="Liberation Sans"/>
              </a:defRPr>
            </a:pPr>
            <a:r>
              <a:t>Reorder measurements and commands so each value reaches the intended joint.</a:t>
            </a:r>
          </a:p>
        </p:txBody>
      </p:sp>
      <p:sp>
        <p:nvSpPr>
          <p:cNvPr id="19" name="Rectangle 18"/>
          <p:cNvSpPr/>
          <p:nvPr/>
        </p:nvSpPr>
        <p:spPr>
          <a:xfrm>
            <a:off x="457200" y="3200400"/>
            <a:ext cx="11247120" cy="704088"/>
          </a:xfrm>
          <a:prstGeom prst="rect">
            <a:avLst/>
          </a:prstGeom>
          <a:solidFill>
            <a:srgbClr val="FAF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3310128"/>
            <a:ext cx="2596896" cy="566928"/>
          </a:xfrm>
          <a:prstGeom prst="rect">
            <a:avLst/>
          </a:prstGeom>
          <a:noFill/>
        </p:spPr>
        <p:txBody>
          <a:bodyPr wrap="square" lIns="13716" rIns="13716" tIns="0" bIns="0">
            <a:spAutoFit/>
          </a:bodyPr>
          <a:lstStyle/>
          <a:p>
            <a:pPr>
              <a:spcAft>
                <a:spcPts val="300"/>
              </a:spcAft>
              <a:defRPr sz="1600" b="1">
                <a:solidFill>
                  <a:srgbClr val="B86A13"/>
                </a:solidFill>
                <a:latin typeface="Liberation Sans"/>
              </a:defRPr>
            </a:pPr>
            <a:r>
              <a:t>Getting a meaningful touch signal</a:t>
            </a:r>
          </a:p>
        </p:txBody>
      </p:sp>
      <p:sp>
        <p:nvSpPr>
          <p:cNvPr id="21" name="TextBox 20"/>
          <p:cNvSpPr txBox="1"/>
          <p:nvPr/>
        </p:nvSpPr>
        <p:spPr>
          <a:xfrm>
            <a:off x="3584448" y="3291840"/>
            <a:ext cx="3465576" cy="594360"/>
          </a:xfrm>
          <a:prstGeom prst="rect">
            <a:avLst/>
          </a:prstGeom>
          <a:noFill/>
        </p:spPr>
        <p:txBody>
          <a:bodyPr wrap="square" lIns="13716" rIns="13716" tIns="0" bIns="0">
            <a:spAutoFit/>
          </a:bodyPr>
          <a:lstStyle/>
          <a:p>
            <a:pPr>
              <a:spcAft>
                <a:spcPts val="300"/>
              </a:spcAft>
              <a:defRPr sz="1500" b="0">
                <a:solidFill>
                  <a:srgbClr val="536578"/>
                </a:solidFill>
                <a:latin typeface="Liberation Sans"/>
              </a:defRPr>
            </a:pPr>
            <a:r>
              <a:t>Rigid pads barely indented; the untouched reference could include contact.</a:t>
            </a:r>
          </a:p>
        </p:txBody>
      </p:sp>
      <p:sp>
        <p:nvSpPr>
          <p:cNvPr id="22" name="TextBox 21"/>
          <p:cNvSpPr txBox="1"/>
          <p:nvPr/>
        </p:nvSpPr>
        <p:spPr>
          <a:xfrm>
            <a:off x="7461504" y="3291840"/>
            <a:ext cx="4078224" cy="594360"/>
          </a:xfrm>
          <a:prstGeom prst="rect">
            <a:avLst/>
          </a:prstGeom>
          <a:noFill/>
        </p:spPr>
        <p:txBody>
          <a:bodyPr wrap="square" lIns="13716" rIns="13716" tIns="0" bIns="0">
            <a:spAutoFit/>
          </a:bodyPr>
          <a:lstStyle/>
          <a:p>
            <a:pPr>
              <a:spcAft>
                <a:spcPts val="300"/>
              </a:spcAft>
              <a:defRPr sz="1500" b="0">
                <a:solidFill>
                  <a:srgbClr val="132B43"/>
                </a:solidFill>
                <a:latin typeface="Liberation Sans"/>
              </a:defRPr>
            </a:pPr>
            <a:r>
              <a:t>Allow compliant contact and record the untouched reference before the first grasp.</a:t>
            </a:r>
          </a:p>
        </p:txBody>
      </p:sp>
      <p:sp>
        <p:nvSpPr>
          <p:cNvPr id="23" name="Rectangle 22"/>
          <p:cNvSpPr/>
          <p:nvPr/>
        </p:nvSpPr>
        <p:spPr>
          <a:xfrm>
            <a:off x="457200" y="3977639"/>
            <a:ext cx="11247120" cy="704088"/>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4360" y="4087368"/>
            <a:ext cx="2596896" cy="566928"/>
          </a:xfrm>
          <a:prstGeom prst="rect">
            <a:avLst/>
          </a:prstGeom>
          <a:noFill/>
        </p:spPr>
        <p:txBody>
          <a:bodyPr wrap="square" lIns="13716" rIns="13716" tIns="0" bIns="0">
            <a:spAutoFit/>
          </a:bodyPr>
          <a:lstStyle/>
          <a:p>
            <a:pPr>
              <a:spcAft>
                <a:spcPts val="300"/>
              </a:spcAft>
              <a:defRPr sz="1600" b="1">
                <a:solidFill>
                  <a:srgbClr val="B86A13"/>
                </a:solidFill>
                <a:latin typeface="Liberation Sans"/>
              </a:defRPr>
            </a:pPr>
            <a:r>
              <a:t>Making imported objects visible</a:t>
            </a:r>
          </a:p>
        </p:txBody>
      </p:sp>
      <p:sp>
        <p:nvSpPr>
          <p:cNvPr id="25" name="TextBox 24"/>
          <p:cNvSpPr txBox="1"/>
          <p:nvPr/>
        </p:nvSpPr>
        <p:spPr>
          <a:xfrm>
            <a:off x="3584448" y="4069079"/>
            <a:ext cx="3465576" cy="594360"/>
          </a:xfrm>
          <a:prstGeom prst="rect">
            <a:avLst/>
          </a:prstGeom>
          <a:noFill/>
        </p:spPr>
        <p:txBody>
          <a:bodyPr wrap="square" lIns="13716" rIns="13716" tIns="0" bIns="0">
            <a:spAutoFit/>
          </a:bodyPr>
          <a:lstStyle/>
          <a:p>
            <a:pPr>
              <a:spcAft>
                <a:spcPts val="300"/>
              </a:spcAft>
              <a:defRPr sz="1500" b="0">
                <a:solidFill>
                  <a:srgbClr val="536578"/>
                </a:solidFill>
                <a:latin typeface="Liberation Sans"/>
              </a:defRPr>
            </a:pPr>
            <a:r>
              <a:t>One object-import path produced empty or invisible geometry.</a:t>
            </a:r>
          </a:p>
        </p:txBody>
      </p:sp>
      <p:sp>
        <p:nvSpPr>
          <p:cNvPr id="26" name="TextBox 25"/>
          <p:cNvSpPr txBox="1"/>
          <p:nvPr/>
        </p:nvSpPr>
        <p:spPr>
          <a:xfrm>
            <a:off x="7461504" y="4069079"/>
            <a:ext cx="4078224" cy="594360"/>
          </a:xfrm>
          <a:prstGeom prst="rect">
            <a:avLst/>
          </a:prstGeom>
          <a:noFill/>
        </p:spPr>
        <p:txBody>
          <a:bodyPr wrap="square" lIns="13716" rIns="13716" tIns="0" bIns="0">
            <a:spAutoFit/>
          </a:bodyPr>
          <a:lstStyle/>
          <a:p>
            <a:pPr>
              <a:spcAft>
                <a:spcPts val="300"/>
              </a:spcAft>
              <a:defRPr sz="1500" b="0">
                <a:solidFill>
                  <a:srgbClr val="132B43"/>
                </a:solidFill>
                <a:latin typeface="Liberation Sans"/>
              </a:defRPr>
            </a:pPr>
            <a:r>
              <a:t>Create simple shapes directly; convert detailed surface models through a separate path.</a:t>
            </a:r>
          </a:p>
        </p:txBody>
      </p:sp>
      <p:sp>
        <p:nvSpPr>
          <p:cNvPr id="27" name="Rectangle 26"/>
          <p:cNvSpPr/>
          <p:nvPr/>
        </p:nvSpPr>
        <p:spPr>
          <a:xfrm>
            <a:off x="457200" y="4754879"/>
            <a:ext cx="11247120" cy="704088"/>
          </a:xfrm>
          <a:prstGeom prst="rect">
            <a:avLst/>
          </a:prstGeom>
          <a:solidFill>
            <a:srgbClr val="FAF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4360" y="4864607"/>
            <a:ext cx="2596896" cy="566928"/>
          </a:xfrm>
          <a:prstGeom prst="rect">
            <a:avLst/>
          </a:prstGeom>
          <a:noFill/>
        </p:spPr>
        <p:txBody>
          <a:bodyPr wrap="square" lIns="13716" rIns="13716" tIns="0" bIns="0">
            <a:spAutoFit/>
          </a:bodyPr>
          <a:lstStyle/>
          <a:p>
            <a:pPr>
              <a:spcAft>
                <a:spcPts val="300"/>
              </a:spcAft>
              <a:defRPr sz="1600" b="1">
                <a:solidFill>
                  <a:srgbClr val="B86A13"/>
                </a:solidFill>
                <a:latin typeface="Liberation Sans"/>
              </a:defRPr>
            </a:pPr>
            <a:r>
              <a:t>Keeping images and 3D data consistent</a:t>
            </a:r>
          </a:p>
        </p:txBody>
      </p:sp>
      <p:sp>
        <p:nvSpPr>
          <p:cNvPr id="29" name="TextBox 28"/>
          <p:cNvSpPr txBox="1"/>
          <p:nvPr/>
        </p:nvSpPr>
        <p:spPr>
          <a:xfrm>
            <a:off x="3584448" y="4846319"/>
            <a:ext cx="3465576" cy="594360"/>
          </a:xfrm>
          <a:prstGeom prst="rect">
            <a:avLst/>
          </a:prstGeom>
          <a:noFill/>
        </p:spPr>
        <p:txBody>
          <a:bodyPr wrap="square" lIns="13716" rIns="13716" tIns="0" bIns="0">
            <a:spAutoFit/>
          </a:bodyPr>
          <a:lstStyle/>
          <a:p>
            <a:pPr>
              <a:spcAft>
                <a:spcPts val="300"/>
              </a:spcAft>
              <a:defRPr sz="1500" b="0">
                <a:solidFill>
                  <a:srgbClr val="536578"/>
                </a:solidFill>
                <a:latin typeface="Liberation Sans"/>
              </a:defRPr>
            </a:pPr>
            <a:r>
              <a:t>Sensor labels, 3D coordinates and recording times did not agree.</a:t>
            </a:r>
          </a:p>
        </p:txBody>
      </p:sp>
      <p:sp>
        <p:nvSpPr>
          <p:cNvPr id="30" name="TextBox 29"/>
          <p:cNvSpPr txBox="1"/>
          <p:nvPr/>
        </p:nvSpPr>
        <p:spPr>
          <a:xfrm>
            <a:off x="7461504" y="4846319"/>
            <a:ext cx="4078224" cy="594360"/>
          </a:xfrm>
          <a:prstGeom prst="rect">
            <a:avLst/>
          </a:prstGeom>
          <a:noFill/>
        </p:spPr>
        <p:txBody>
          <a:bodyPr wrap="square" lIns="13716" rIns="13716" tIns="0" bIns="0">
            <a:spAutoFit/>
          </a:bodyPr>
          <a:lstStyle/>
          <a:p>
            <a:pPr>
              <a:spcAft>
                <a:spcPts val="300"/>
              </a:spcAft>
              <a:defRPr sz="1500" b="0">
                <a:solidFill>
                  <a:srgbClr val="132B43"/>
                </a:solidFill>
                <a:latin typeface="Liberation Sans"/>
              </a:defRPr>
            </a:pPr>
            <a:r>
              <a:t>Map conventions, check camera poses, preserve depth and exclude reset frames.</a:t>
            </a:r>
          </a:p>
        </p:txBody>
      </p:sp>
      <p:sp>
        <p:nvSpPr>
          <p:cNvPr id="31" name="Rectangle 30"/>
          <p:cNvSpPr/>
          <p:nvPr/>
        </p:nvSpPr>
        <p:spPr>
          <a:xfrm>
            <a:off x="457200" y="5797296"/>
            <a:ext cx="11247120" cy="429768"/>
          </a:xfrm>
          <a:prstGeom prst="rect">
            <a:avLst/>
          </a:prstGeom>
          <a:solidFill>
            <a:srgbClr val="E3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94360" y="5879592"/>
            <a:ext cx="10972800" cy="274320"/>
          </a:xfrm>
          <a:prstGeom prst="rect">
            <a:avLst/>
          </a:prstGeom>
          <a:noFill/>
        </p:spPr>
        <p:txBody>
          <a:bodyPr wrap="square" lIns="13716" rIns="13716" tIns="0" bIns="0">
            <a:spAutoFit/>
          </a:bodyPr>
          <a:lstStyle/>
          <a:p>
            <a:pPr>
              <a:spcAft>
                <a:spcPts val="300"/>
              </a:spcAft>
              <a:defRPr sz="1500" b="1">
                <a:solidFill>
                  <a:srgbClr val="007F82"/>
                </a:solidFill>
                <a:latin typeface="Liberation Sans"/>
              </a:defRPr>
            </a:pPr>
            <a:r>
              <a:t>Key lesson: a plausible image or motion is insufficient—contact, geometry and timing must agree.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Allegro In-Hand Rotation: What Changed and Why It Was Difficult</dc:title>
  <dc:subject>Accessible comparison of original and extended research capabilities</dc:subject>
  <dc:creator>Research Engineering</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